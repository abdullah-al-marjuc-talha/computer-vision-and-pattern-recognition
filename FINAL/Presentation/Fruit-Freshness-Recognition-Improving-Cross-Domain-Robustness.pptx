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4630400" cy="8229600"/>
  <p:notesSz cx="8229600" cy="14630400"/>
  <p:embeddedFontLst>
    <p:embeddedFont>
      <p:font typeface="Lato" panose="020F0502020204030203" pitchFamily="3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1324" autoAdjust="0"/>
  </p:normalViewPr>
  <p:slideViewPr>
    <p:cSldViewPr snapToGrid="0" snapToObjects="1">
      <p:cViewPr varScale="1">
        <p:scale>
          <a:sx n="53" d="100"/>
          <a:sy n="53" d="100"/>
        </p:scale>
        <p:origin x="140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9409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Talha, and today I am excited to present our research titled: </a:t>
            </a:r>
            <a:r>
              <a:rPr lang="en-US" i="1" dirty="0"/>
              <a:t>Fruit Freshness Recognition: Improving Cross-Domain Robustness Beyond GAN-Based Augmentation</a:t>
            </a:r>
            <a:r>
              <a:rPr lang="en-US" dirty="0"/>
              <a:t>. We are exploring how to move past just generating synthetic data and instead focus on making models that actually work in the real world. This work was advised by Dr. Debajyoti </a:t>
            </a:r>
            <a:r>
              <a:rPr lang="en-US" dirty="0" err="1"/>
              <a:t>Karmaker</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Baseline Paper Overview</a:t>
            </a:r>
            <a:r>
              <a:rPr lang="en-US" dirty="0"/>
              <a:t> "To understand our approach, we first look at the foundation: a 2022 paper by Zhao and colleagues from the Beijing Institute of Technology. Their goal was to recognize fruit freshness using a series of Generative Adversarial Networks, or GANs, for data augmentation. Their headline achievement was reaching 100% validation accuracy on the Food Aayush dataset.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did they get to 100%? </a:t>
            </a:r>
          </a:p>
          <a:p>
            <a:r>
              <a:rPr lang="en-US" dirty="0"/>
              <a:t>They used a multi-step pipeline. They took the Food Aayush dataset and passed it through a GAN Augmentation Module. They compared three types of GANs: CGAN, which suffered from repetitive images; CWGAN-GP, which was better but biased; and finally ACWGAN-GP, which was their 'best' model because it generated diverse, class-faithful images. They generated 10,000 of these synthetic images, merged them with the original data, and trained a Wide ResNet-101-2 classifier.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were impressive on paper. By adding those 10,000 ACWGAN-GP images, their accuracy climbed from a baseline of 99.95% to a perfect 100%. They found that while basic GANs actually hurt performance, their specific version allowed for perfect recognition within that specific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Baseline Limitations &amp; Critical Gaps</a:t>
            </a:r>
            <a:r>
              <a:rPr lang="en-US" dirty="0"/>
              <a:t> "However, we identified three major gaps. First, the complexity of the GAN is hard to justify. Is 60 hours of training worth a 0.05% gain in accuracy? Second, they used 'Binary Labels'—simply 'Fresh' or 'Stale'. In the real world, a supply chain needs to know </a:t>
            </a:r>
            <a:r>
              <a:rPr lang="en-US" i="1" dirty="0"/>
              <a:t>how</a:t>
            </a:r>
            <a:r>
              <a:rPr lang="en-US" dirty="0"/>
              <a:t> stale a fruit is to decide where to ship it. Finally, the training burden is huge. It requires 2.5 days of continuous GPU training on expensive hardware like an RTX 3090, which isn't practical for many labs or real-world edge devices.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Our Proposed Architecture</a:t>
            </a:r>
            <a:r>
              <a:rPr lang="en-US" dirty="0"/>
              <a:t> "This brings us to our proposal: </a:t>
            </a:r>
            <a:r>
              <a:rPr lang="en-US" b="1" dirty="0"/>
              <a:t>DANN-</a:t>
            </a:r>
            <a:r>
              <a:rPr lang="en-US" b="1" dirty="0" err="1"/>
              <a:t>ViT</a:t>
            </a:r>
            <a:r>
              <a:rPr lang="en-US" b="1" dirty="0"/>
              <a:t> + Ordinal Freshness Head</a:t>
            </a:r>
            <a:r>
              <a:rPr lang="en-US" dirty="0"/>
              <a:t>. Our philosophy is different. Instead of spending days generating fake images to get perfect scores on one dataset, we focus on </a:t>
            </a:r>
            <a:r>
              <a:rPr lang="en-US" b="1" dirty="0"/>
              <a:t>Domain-Invariant</a:t>
            </a:r>
            <a:r>
              <a:rPr lang="en-US" dirty="0"/>
              <a:t> features—meaning features that stay accurate even if the lighting, camera, or background changes.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uses a Vision Transformer (</a:t>
            </a:r>
            <a:r>
              <a:rPr lang="en-US" dirty="0" err="1"/>
              <a:t>ViT</a:t>
            </a:r>
            <a:r>
              <a:rPr lang="en-US" dirty="0"/>
              <a:t>) as the backbone, pre-trained on ImageNet. The feature vector is then shared between two specialized 'heads':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Dual Heads &amp; The GRL Trick</a:t>
            </a:r>
            <a:r>
              <a:rPr lang="en-US" dirty="0"/>
              <a:t> "</a:t>
            </a:r>
            <a:r>
              <a:rPr lang="en-US" b="1" dirty="0"/>
              <a:t>Head 1</a:t>
            </a:r>
            <a:r>
              <a:rPr lang="en-US" dirty="0"/>
              <a:t> handles Freshness. Instead of a simple 'yes/no,' we use </a:t>
            </a:r>
            <a:r>
              <a:rPr lang="en-US" b="1" dirty="0"/>
              <a:t>Ordinal Regression</a:t>
            </a:r>
            <a:r>
              <a:rPr lang="en-US" dirty="0"/>
              <a:t> to predict five levels, from L1 (Very Fresh) to L5 (Stale). We use a specific loss function that penalizes the model more if it's 'very' wrong—like calling a rotten apple 'perfectly fresh'—compared to just missing by one day.</a:t>
            </a:r>
          </a:p>
          <a:p>
            <a:r>
              <a:rPr lang="en-US" b="1" dirty="0"/>
              <a:t>Head 2</a:t>
            </a:r>
            <a:r>
              <a:rPr lang="en-US" dirty="0"/>
              <a:t> is the Domain Discriminator. It uses a </a:t>
            </a:r>
            <a:r>
              <a:rPr lang="en-US" b="1" dirty="0"/>
              <a:t>Gradient Reversal Layer (GRL)</a:t>
            </a:r>
            <a:r>
              <a:rPr lang="en-US" dirty="0"/>
              <a:t>. This is a 'clever trick' that forces the model to ignore the 'noise' of the environment—like what camera was used—and focus only on the fruit itself. This leads to a model that is robust across different domains.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Comparison – Baseline vs. Ours</a:t>
            </a:r>
            <a:r>
              <a:rPr lang="en-US" dirty="0"/>
              <a:t> "Let's look at the numbers. The Baseline focuses on in-domain accuracy and takes 60 hours to train. Our approach focuses on cross-domain robustness and trains in just </a:t>
            </a:r>
            <a:r>
              <a:rPr lang="en-US" b="1" dirty="0"/>
              <a:t>2 to 4 hours</a:t>
            </a:r>
            <a:r>
              <a:rPr lang="en-US" dirty="0"/>
              <a:t>. We don't need synthetic data; we just need domain labels.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Results Comparison Table</a:t>
            </a:r>
            <a:r>
              <a:rPr lang="en-US" dirty="0"/>
              <a:t> "In our predicted results, we see a strategic trade-off. The baseline gets 100% in-domain, while we get about 98-99%. However, in </a:t>
            </a:r>
            <a:r>
              <a:rPr lang="en-US" b="1" dirty="0"/>
              <a:t>Out-of-Domain</a:t>
            </a:r>
            <a:r>
              <a:rPr lang="en-US" dirty="0"/>
              <a:t> scenarios—like a farmer using a different smartphone or a market with low light—we outperform the baseline by 10%. Plus, our model is nearly half the size and 20 times faster to train.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Implementation Steps</a:t>
            </a:r>
            <a:r>
              <a:rPr lang="en-US" dirty="0"/>
              <a:t> "To implement this, we use the Food Aayush dataset for training, but we test it against four distinct 'real-world' domains: smartphone images, low light, cluttered backgrounds, and seasonal changes. We use standard </a:t>
            </a:r>
            <a:r>
              <a:rPr lang="en-US" dirty="0" err="1"/>
              <a:t>PyTorch</a:t>
            </a:r>
            <a:r>
              <a:rPr lang="en-US" dirty="0"/>
              <a:t> transforms to ensure our data is ready for the Vision Transformer.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advantages: We offer </a:t>
            </a:r>
            <a:r>
              <a:rPr lang="en-US" b="1" dirty="0"/>
              <a:t>Domain Robustness</a:t>
            </a:r>
            <a:r>
              <a:rPr lang="en-US" dirty="0"/>
              <a:t>, which is vital for real farms. We provide </a:t>
            </a:r>
            <a:r>
              <a:rPr lang="en-US" b="1" dirty="0"/>
              <a:t>Supply Chain Optimization</a:t>
            </a:r>
            <a:r>
              <a:rPr lang="en-US" dirty="0"/>
              <a:t> by predicting five levels of freshness. And we are </a:t>
            </a:r>
            <a:r>
              <a:rPr lang="en-US" b="1" dirty="0"/>
              <a:t>Cost Efficient</a:t>
            </a:r>
            <a:r>
              <a:rPr lang="en-US" dirty="0"/>
              <a:t>, requiring standard hardware and costing 5 times less to train in the cloud.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Challenges &amp; Future Work</a:t>
            </a:r>
            <a:r>
              <a:rPr lang="en-US" dirty="0"/>
              <a:t> "Of course, there are challenges. We need domain labels for the discriminator, though we can often automate this via metadata. Looking ahead, we want to move into </a:t>
            </a:r>
            <a:r>
              <a:rPr lang="en-US" b="1" dirty="0"/>
              <a:t>Temporal Modeling</a:t>
            </a:r>
            <a:r>
              <a:rPr lang="en-US" dirty="0"/>
              <a:t>—predicting exactly how many days are left before a fruit spoils—and shrinking the model further for real-time use on smartphones.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while the 2022 baseline achieved a perfect score on one dataset, it was a 'black box' that was slow to train and limited in scope. Our DANN-</a:t>
            </a:r>
            <a:r>
              <a:rPr lang="en-US" dirty="0" err="1"/>
              <a:t>ViT</a:t>
            </a:r>
            <a:r>
              <a:rPr lang="en-US" dirty="0"/>
              <a:t> approach is faster, more practical, and built for the messy, changing conditions of the real world.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baseline paper was a great foundation, but it was too slow and too limited for the real world. Our DANN-</a:t>
            </a:r>
            <a:r>
              <a:rPr lang="en-US" dirty="0" err="1"/>
              <a:t>ViT</a:t>
            </a:r>
            <a:r>
              <a:rPr lang="en-US" dirty="0"/>
              <a:t> research provides a faster, cheaper, and more robust way to track food quality.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txBody>
          <a:bodyPr/>
          <a:lstStyle/>
          <a:p>
            <a:endParaRPr lang="en-US"/>
          </a:p>
        </p:txBody>
      </p:sp>
      <p:sp>
        <p:nvSpPr>
          <p:cNvPr id="3" name="Shape 1"/>
          <p:cNvSpPr/>
          <p:nvPr/>
        </p:nvSpPr>
        <p:spPr>
          <a:xfrm>
            <a:off x="0" y="0"/>
            <a:ext cx="14630400" cy="8229600"/>
          </a:xfrm>
          <a:prstGeom prst="rect">
            <a:avLst/>
          </a:prstGeom>
          <a:solidFill>
            <a:srgbClr val="EFECE6"/>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73787" y="608052"/>
            <a:ext cx="13082826" cy="1381601"/>
          </a:xfrm>
          <a:prstGeom prst="rect">
            <a:avLst/>
          </a:prstGeom>
          <a:noFill/>
          <a:ln/>
        </p:spPr>
        <p:txBody>
          <a:bodyPr wrap="square" lIns="0" tIns="0" rIns="0" bIns="0" rtlCol="0" anchor="t"/>
          <a:lstStyle/>
          <a:p>
            <a:pPr marL="0" indent="0" algn="l">
              <a:lnSpc>
                <a:spcPts val="5400"/>
              </a:lnSpc>
              <a:buNone/>
            </a:pPr>
            <a:r>
              <a:rPr lang="en-US" sz="4350" b="1" dirty="0">
                <a:solidFill>
                  <a:srgbClr val="282824"/>
                </a:solidFill>
                <a:latin typeface="Lato Bold" pitchFamily="34" charset="0"/>
                <a:ea typeface="Lato Bold" pitchFamily="34" charset="-122"/>
                <a:cs typeface="Lato Bold" pitchFamily="34" charset="-120"/>
              </a:rPr>
              <a:t>Fruit Freshness Recognition: Improving Cross-Domain Robustness</a:t>
            </a:r>
            <a:endParaRPr lang="en-US" sz="4350" dirty="0"/>
          </a:p>
        </p:txBody>
      </p:sp>
      <p:sp>
        <p:nvSpPr>
          <p:cNvPr id="3" name="Text 1"/>
          <p:cNvSpPr/>
          <p:nvPr/>
        </p:nvSpPr>
        <p:spPr>
          <a:xfrm>
            <a:off x="773787" y="2077998"/>
            <a:ext cx="13082826" cy="828913"/>
          </a:xfrm>
          <a:prstGeom prst="rect">
            <a:avLst/>
          </a:prstGeom>
          <a:noFill/>
          <a:ln/>
        </p:spPr>
        <p:txBody>
          <a:bodyPr wrap="square" lIns="0" tIns="0" rIns="0" bIns="0" rtlCol="0" anchor="t"/>
          <a:lstStyle/>
          <a:p>
            <a:pPr marL="0" indent="0" algn="l">
              <a:lnSpc>
                <a:spcPts val="3250"/>
              </a:lnSpc>
              <a:buNone/>
            </a:pPr>
            <a:r>
              <a:rPr lang="en-US" sz="2600" b="1" dirty="0">
                <a:solidFill>
                  <a:srgbClr val="282824"/>
                </a:solidFill>
                <a:latin typeface="Lato Bold" pitchFamily="34" charset="0"/>
                <a:ea typeface="Lato Bold" pitchFamily="34" charset="-122"/>
                <a:cs typeface="Lato Bold" pitchFamily="34" charset="-120"/>
              </a:rPr>
              <a:t>Beyond GAN-Based Augmentation for Real-World Applications : DANN-ViT + Ordinal Freshness Head</a:t>
            </a:r>
            <a:endParaRPr lang="en-US" sz="2600" dirty="0"/>
          </a:p>
        </p:txBody>
      </p:sp>
      <p:sp>
        <p:nvSpPr>
          <p:cNvPr id="4" name="Text 2"/>
          <p:cNvSpPr/>
          <p:nvPr/>
        </p:nvSpPr>
        <p:spPr>
          <a:xfrm>
            <a:off x="773787" y="3238500"/>
            <a:ext cx="13082826" cy="353735"/>
          </a:xfrm>
          <a:prstGeom prst="rect">
            <a:avLst/>
          </a:prstGeom>
          <a:noFill/>
          <a:ln/>
        </p:spPr>
        <p:txBody>
          <a:bodyPr wrap="none" lIns="0" tIns="0" rIns="0" bIns="0" rtlCol="0" anchor="t"/>
          <a:lstStyle/>
          <a:p>
            <a:pPr marL="0" indent="0" algn="l">
              <a:lnSpc>
                <a:spcPts val="2750"/>
              </a:lnSpc>
              <a:buNone/>
            </a:pPr>
            <a:r>
              <a:rPr lang="en-US" sz="1700" b="1" dirty="0">
                <a:solidFill>
                  <a:srgbClr val="4A4A45"/>
                </a:solidFill>
                <a:latin typeface="Lato" pitchFamily="34" charset="0"/>
                <a:ea typeface="Lato" pitchFamily="34" charset="-122"/>
                <a:cs typeface="Lato" pitchFamily="34" charset="-120"/>
              </a:rPr>
              <a:t>Advisor: DR. DEBAJYOTI KARMAKER</a:t>
            </a:r>
            <a:endParaRPr lang="en-US" sz="1700" dirty="0"/>
          </a:p>
        </p:txBody>
      </p:sp>
      <p:sp>
        <p:nvSpPr>
          <p:cNvPr id="5" name="Shape 3"/>
          <p:cNvSpPr/>
          <p:nvPr/>
        </p:nvSpPr>
        <p:spPr>
          <a:xfrm>
            <a:off x="773787" y="3840956"/>
            <a:ext cx="13082826" cy="3178135"/>
          </a:xfrm>
          <a:prstGeom prst="roundRect">
            <a:avLst>
              <a:gd name="adj" fmla="val 1044"/>
            </a:avLst>
          </a:prstGeom>
          <a:noFill/>
          <a:ln w="7620">
            <a:solidFill>
              <a:srgbClr val="000000">
                <a:alpha val="8000"/>
              </a:srgbClr>
            </a:solidFill>
            <a:prstDash val="solid"/>
          </a:ln>
        </p:spPr>
        <p:txBody>
          <a:bodyPr/>
          <a:lstStyle/>
          <a:p>
            <a:endParaRPr lang="en-US"/>
          </a:p>
        </p:txBody>
      </p:sp>
      <p:sp>
        <p:nvSpPr>
          <p:cNvPr id="6" name="Shape 4"/>
          <p:cNvSpPr/>
          <p:nvPr/>
        </p:nvSpPr>
        <p:spPr>
          <a:xfrm>
            <a:off x="781407" y="3848576"/>
            <a:ext cx="13067586" cy="625912"/>
          </a:xfrm>
          <a:prstGeom prst="rect">
            <a:avLst/>
          </a:prstGeom>
          <a:solidFill>
            <a:srgbClr val="FFFFFF">
              <a:alpha val="4000"/>
            </a:srgbClr>
          </a:solidFill>
          <a:ln/>
        </p:spPr>
        <p:txBody>
          <a:bodyPr/>
          <a:lstStyle/>
          <a:p>
            <a:endParaRPr lang="en-US"/>
          </a:p>
        </p:txBody>
      </p:sp>
      <p:sp>
        <p:nvSpPr>
          <p:cNvPr id="7" name="Text 5"/>
          <p:cNvSpPr/>
          <p:nvPr/>
        </p:nvSpPr>
        <p:spPr>
          <a:xfrm>
            <a:off x="2664500" y="3988832"/>
            <a:ext cx="2763679" cy="345400"/>
          </a:xfrm>
          <a:prstGeom prst="rect">
            <a:avLst/>
          </a:prstGeom>
          <a:noFill/>
          <a:ln/>
        </p:spPr>
        <p:txBody>
          <a:bodyPr wrap="none" lIns="0" tIns="0" rIns="0" bIns="0" rtlCol="0" anchor="t"/>
          <a:lstStyle/>
          <a:p>
            <a:pPr marL="0" indent="0" algn="ctr">
              <a:lnSpc>
                <a:spcPts val="2700"/>
              </a:lnSpc>
              <a:buNone/>
            </a:pPr>
            <a:r>
              <a:rPr lang="en-US" sz="2150" b="1" dirty="0">
                <a:solidFill>
                  <a:srgbClr val="282824"/>
                </a:solidFill>
                <a:latin typeface="Lato Bold" pitchFamily="34" charset="0"/>
                <a:ea typeface="Lato Bold" pitchFamily="34" charset="-122"/>
                <a:cs typeface="Lato Bold" pitchFamily="34" charset="-120"/>
              </a:rPr>
              <a:t>Name</a:t>
            </a:r>
            <a:endParaRPr lang="en-US" sz="2150" dirty="0"/>
          </a:p>
        </p:txBody>
      </p:sp>
      <p:sp>
        <p:nvSpPr>
          <p:cNvPr id="8" name="Text 6"/>
          <p:cNvSpPr/>
          <p:nvPr/>
        </p:nvSpPr>
        <p:spPr>
          <a:xfrm>
            <a:off x="9202103" y="3988832"/>
            <a:ext cx="2763679" cy="345400"/>
          </a:xfrm>
          <a:prstGeom prst="rect">
            <a:avLst/>
          </a:prstGeom>
          <a:noFill/>
          <a:ln/>
        </p:spPr>
        <p:txBody>
          <a:bodyPr wrap="none" lIns="0" tIns="0" rIns="0" bIns="0" rtlCol="0" anchor="t"/>
          <a:lstStyle/>
          <a:p>
            <a:pPr marL="0" indent="0" algn="ctr">
              <a:lnSpc>
                <a:spcPts val="2700"/>
              </a:lnSpc>
              <a:buNone/>
            </a:pPr>
            <a:r>
              <a:rPr lang="en-US" sz="2150" b="1" dirty="0">
                <a:solidFill>
                  <a:srgbClr val="282824"/>
                </a:solidFill>
                <a:latin typeface="Lato Bold" pitchFamily="34" charset="0"/>
                <a:ea typeface="Lato Bold" pitchFamily="34" charset="-122"/>
                <a:cs typeface="Lato Bold" pitchFamily="34" charset="-120"/>
              </a:rPr>
              <a:t>ID</a:t>
            </a:r>
            <a:endParaRPr lang="en-US" sz="2150" dirty="0"/>
          </a:p>
        </p:txBody>
      </p:sp>
      <p:sp>
        <p:nvSpPr>
          <p:cNvPr id="9" name="Shape 7"/>
          <p:cNvSpPr/>
          <p:nvPr/>
        </p:nvSpPr>
        <p:spPr>
          <a:xfrm>
            <a:off x="781407" y="4474488"/>
            <a:ext cx="13067586" cy="634246"/>
          </a:xfrm>
          <a:prstGeom prst="rect">
            <a:avLst/>
          </a:prstGeom>
          <a:solidFill>
            <a:srgbClr val="000000">
              <a:alpha val="4000"/>
            </a:srgbClr>
          </a:solidFill>
          <a:ln/>
        </p:spPr>
        <p:txBody>
          <a:bodyPr/>
          <a:lstStyle/>
          <a:p>
            <a:endParaRPr lang="en-US"/>
          </a:p>
        </p:txBody>
      </p:sp>
      <p:sp>
        <p:nvSpPr>
          <p:cNvPr id="10" name="Text 8"/>
          <p:cNvSpPr/>
          <p:nvPr/>
        </p:nvSpPr>
        <p:spPr>
          <a:xfrm>
            <a:off x="1002387" y="4614743"/>
            <a:ext cx="6088023" cy="353735"/>
          </a:xfrm>
          <a:prstGeom prst="rect">
            <a:avLst/>
          </a:prstGeom>
          <a:noFill/>
          <a:ln/>
        </p:spPr>
        <p:txBody>
          <a:bodyPr wrap="none" lIns="0" tIns="0" rIns="0" bIns="0" rtlCol="0" anchor="t"/>
          <a:lstStyle/>
          <a:p>
            <a:pPr marL="0" indent="0" algn="ctr">
              <a:lnSpc>
                <a:spcPts val="2750"/>
              </a:lnSpc>
              <a:buNone/>
            </a:pPr>
            <a:r>
              <a:rPr lang="en-US" sz="1700" dirty="0">
                <a:solidFill>
                  <a:srgbClr val="4A4A45"/>
                </a:solidFill>
                <a:latin typeface="Lato" pitchFamily="34" charset="0"/>
                <a:ea typeface="Lato" pitchFamily="34" charset="-122"/>
                <a:cs typeface="Lato" pitchFamily="34" charset="-120"/>
              </a:rPr>
              <a:t>Abdullah Al Marjuc Talha</a:t>
            </a:r>
            <a:endParaRPr lang="en-US" sz="1700" dirty="0"/>
          </a:p>
        </p:txBody>
      </p:sp>
      <p:sp>
        <p:nvSpPr>
          <p:cNvPr id="11" name="Text 9"/>
          <p:cNvSpPr/>
          <p:nvPr/>
        </p:nvSpPr>
        <p:spPr>
          <a:xfrm>
            <a:off x="7539990" y="4614743"/>
            <a:ext cx="6088023" cy="353735"/>
          </a:xfrm>
          <a:prstGeom prst="rect">
            <a:avLst/>
          </a:prstGeom>
          <a:noFill/>
          <a:ln/>
        </p:spPr>
        <p:txBody>
          <a:bodyPr wrap="none" lIns="0" tIns="0" rIns="0" bIns="0" rtlCol="0" anchor="t"/>
          <a:lstStyle/>
          <a:p>
            <a:pPr marL="0" indent="0" algn="ctr">
              <a:lnSpc>
                <a:spcPts val="2750"/>
              </a:lnSpc>
              <a:buNone/>
            </a:pPr>
            <a:r>
              <a:rPr lang="en-US" sz="1700" dirty="0">
                <a:solidFill>
                  <a:srgbClr val="4A4A45"/>
                </a:solidFill>
                <a:latin typeface="Lato" pitchFamily="34" charset="0"/>
                <a:ea typeface="Lato" pitchFamily="34" charset="-122"/>
                <a:cs typeface="Lato" pitchFamily="34" charset="-120"/>
              </a:rPr>
              <a:t>22-47294-1</a:t>
            </a:r>
            <a:endParaRPr lang="en-US" sz="1700" dirty="0"/>
          </a:p>
        </p:txBody>
      </p:sp>
      <p:sp>
        <p:nvSpPr>
          <p:cNvPr id="12" name="Shape 10"/>
          <p:cNvSpPr/>
          <p:nvPr/>
        </p:nvSpPr>
        <p:spPr>
          <a:xfrm>
            <a:off x="781407" y="5108734"/>
            <a:ext cx="13067586" cy="634246"/>
          </a:xfrm>
          <a:prstGeom prst="rect">
            <a:avLst/>
          </a:prstGeom>
          <a:solidFill>
            <a:srgbClr val="FFFFFF">
              <a:alpha val="4000"/>
            </a:srgbClr>
          </a:solidFill>
          <a:ln/>
        </p:spPr>
        <p:txBody>
          <a:bodyPr/>
          <a:lstStyle/>
          <a:p>
            <a:endParaRPr lang="en-US"/>
          </a:p>
        </p:txBody>
      </p:sp>
      <p:sp>
        <p:nvSpPr>
          <p:cNvPr id="13" name="Text 11"/>
          <p:cNvSpPr/>
          <p:nvPr/>
        </p:nvSpPr>
        <p:spPr>
          <a:xfrm>
            <a:off x="1002387" y="5248989"/>
            <a:ext cx="6088023" cy="353735"/>
          </a:xfrm>
          <a:prstGeom prst="rect">
            <a:avLst/>
          </a:prstGeom>
          <a:noFill/>
          <a:ln/>
        </p:spPr>
        <p:txBody>
          <a:bodyPr wrap="none" lIns="0" tIns="0" rIns="0" bIns="0" rtlCol="0" anchor="t"/>
          <a:lstStyle/>
          <a:p>
            <a:pPr marL="0" indent="0" algn="ctr">
              <a:lnSpc>
                <a:spcPts val="2750"/>
              </a:lnSpc>
              <a:buNone/>
            </a:pPr>
            <a:r>
              <a:rPr lang="en-US" sz="1700" dirty="0">
                <a:solidFill>
                  <a:srgbClr val="4A4A45"/>
                </a:solidFill>
                <a:latin typeface="Lato" pitchFamily="34" charset="0"/>
                <a:ea typeface="Lato" pitchFamily="34" charset="-122"/>
                <a:cs typeface="Lato" pitchFamily="34" charset="-120"/>
              </a:rPr>
              <a:t>Md Ariful Islam</a:t>
            </a:r>
            <a:endParaRPr lang="en-US" sz="1700" dirty="0"/>
          </a:p>
        </p:txBody>
      </p:sp>
      <p:sp>
        <p:nvSpPr>
          <p:cNvPr id="14" name="Text 12"/>
          <p:cNvSpPr/>
          <p:nvPr/>
        </p:nvSpPr>
        <p:spPr>
          <a:xfrm>
            <a:off x="7539990" y="5248989"/>
            <a:ext cx="6088023" cy="353735"/>
          </a:xfrm>
          <a:prstGeom prst="rect">
            <a:avLst/>
          </a:prstGeom>
          <a:noFill/>
          <a:ln/>
        </p:spPr>
        <p:txBody>
          <a:bodyPr wrap="none" lIns="0" tIns="0" rIns="0" bIns="0" rtlCol="0" anchor="t"/>
          <a:lstStyle/>
          <a:p>
            <a:pPr marL="0" indent="0" algn="ctr">
              <a:lnSpc>
                <a:spcPts val="2750"/>
              </a:lnSpc>
              <a:buNone/>
            </a:pPr>
            <a:r>
              <a:rPr lang="en-US" sz="1700" dirty="0">
                <a:solidFill>
                  <a:srgbClr val="4A4A45"/>
                </a:solidFill>
                <a:latin typeface="Lato" pitchFamily="34" charset="0"/>
                <a:ea typeface="Lato" pitchFamily="34" charset="-122"/>
                <a:cs typeface="Lato" pitchFamily="34" charset="-120"/>
              </a:rPr>
              <a:t>22-46139-1</a:t>
            </a:r>
            <a:endParaRPr lang="en-US" sz="1700" dirty="0"/>
          </a:p>
        </p:txBody>
      </p:sp>
      <p:sp>
        <p:nvSpPr>
          <p:cNvPr id="15" name="Shape 13"/>
          <p:cNvSpPr/>
          <p:nvPr/>
        </p:nvSpPr>
        <p:spPr>
          <a:xfrm>
            <a:off x="781407" y="5742980"/>
            <a:ext cx="13067586" cy="634246"/>
          </a:xfrm>
          <a:prstGeom prst="rect">
            <a:avLst/>
          </a:prstGeom>
          <a:solidFill>
            <a:srgbClr val="000000">
              <a:alpha val="4000"/>
            </a:srgbClr>
          </a:solidFill>
          <a:ln/>
        </p:spPr>
        <p:txBody>
          <a:bodyPr/>
          <a:lstStyle/>
          <a:p>
            <a:endParaRPr lang="en-US"/>
          </a:p>
        </p:txBody>
      </p:sp>
      <p:sp>
        <p:nvSpPr>
          <p:cNvPr id="16" name="Text 14"/>
          <p:cNvSpPr/>
          <p:nvPr/>
        </p:nvSpPr>
        <p:spPr>
          <a:xfrm>
            <a:off x="1002387" y="5883235"/>
            <a:ext cx="6088023" cy="353735"/>
          </a:xfrm>
          <a:prstGeom prst="rect">
            <a:avLst/>
          </a:prstGeom>
          <a:noFill/>
          <a:ln/>
        </p:spPr>
        <p:txBody>
          <a:bodyPr wrap="none" lIns="0" tIns="0" rIns="0" bIns="0" rtlCol="0" anchor="t"/>
          <a:lstStyle/>
          <a:p>
            <a:pPr marL="0" indent="0" algn="ctr">
              <a:lnSpc>
                <a:spcPts val="2750"/>
              </a:lnSpc>
              <a:buNone/>
            </a:pPr>
            <a:r>
              <a:rPr lang="en-US" sz="1700" dirty="0">
                <a:solidFill>
                  <a:srgbClr val="4A4A45"/>
                </a:solidFill>
                <a:latin typeface="Lato" pitchFamily="34" charset="0"/>
                <a:ea typeface="Lato" pitchFamily="34" charset="-122"/>
                <a:cs typeface="Lato" pitchFamily="34" charset="-120"/>
              </a:rPr>
              <a:t>Abdullah Rahman Irfan</a:t>
            </a:r>
            <a:endParaRPr lang="en-US" sz="1700" dirty="0"/>
          </a:p>
        </p:txBody>
      </p:sp>
      <p:sp>
        <p:nvSpPr>
          <p:cNvPr id="17" name="Text 15"/>
          <p:cNvSpPr/>
          <p:nvPr/>
        </p:nvSpPr>
        <p:spPr>
          <a:xfrm>
            <a:off x="7539990" y="5883235"/>
            <a:ext cx="6088023" cy="353735"/>
          </a:xfrm>
          <a:prstGeom prst="rect">
            <a:avLst/>
          </a:prstGeom>
          <a:noFill/>
          <a:ln/>
        </p:spPr>
        <p:txBody>
          <a:bodyPr wrap="none" lIns="0" tIns="0" rIns="0" bIns="0" rtlCol="0" anchor="t"/>
          <a:lstStyle/>
          <a:p>
            <a:pPr marL="0" indent="0" algn="ctr">
              <a:lnSpc>
                <a:spcPts val="2750"/>
              </a:lnSpc>
              <a:buNone/>
            </a:pPr>
            <a:r>
              <a:rPr lang="en-US" sz="1700" dirty="0">
                <a:solidFill>
                  <a:srgbClr val="4A4A45"/>
                </a:solidFill>
                <a:latin typeface="Lato" pitchFamily="34" charset="0"/>
                <a:ea typeface="Lato" pitchFamily="34" charset="-122"/>
                <a:cs typeface="Lato" pitchFamily="34" charset="-120"/>
              </a:rPr>
              <a:t> 22-46877-1</a:t>
            </a:r>
            <a:endParaRPr lang="en-US" sz="1700" dirty="0"/>
          </a:p>
        </p:txBody>
      </p:sp>
      <p:sp>
        <p:nvSpPr>
          <p:cNvPr id="18" name="Shape 16"/>
          <p:cNvSpPr/>
          <p:nvPr/>
        </p:nvSpPr>
        <p:spPr>
          <a:xfrm>
            <a:off x="781407" y="6377226"/>
            <a:ext cx="13067586" cy="634246"/>
          </a:xfrm>
          <a:prstGeom prst="rect">
            <a:avLst/>
          </a:prstGeom>
          <a:solidFill>
            <a:srgbClr val="FFFFFF">
              <a:alpha val="4000"/>
            </a:srgbClr>
          </a:solidFill>
          <a:ln/>
        </p:spPr>
        <p:txBody>
          <a:bodyPr/>
          <a:lstStyle/>
          <a:p>
            <a:endParaRPr lang="en-US"/>
          </a:p>
        </p:txBody>
      </p:sp>
      <p:sp>
        <p:nvSpPr>
          <p:cNvPr id="19" name="Text 17"/>
          <p:cNvSpPr/>
          <p:nvPr/>
        </p:nvSpPr>
        <p:spPr>
          <a:xfrm>
            <a:off x="1002387" y="6517481"/>
            <a:ext cx="6088023" cy="353735"/>
          </a:xfrm>
          <a:prstGeom prst="rect">
            <a:avLst/>
          </a:prstGeom>
          <a:noFill/>
          <a:ln/>
        </p:spPr>
        <p:txBody>
          <a:bodyPr wrap="none" lIns="0" tIns="0" rIns="0" bIns="0" rtlCol="0" anchor="t"/>
          <a:lstStyle/>
          <a:p>
            <a:pPr marL="0" indent="0" algn="ctr">
              <a:lnSpc>
                <a:spcPts val="2750"/>
              </a:lnSpc>
              <a:buNone/>
            </a:pPr>
            <a:r>
              <a:rPr lang="en-US" sz="1700" dirty="0">
                <a:solidFill>
                  <a:srgbClr val="4A4A45"/>
                </a:solidFill>
                <a:latin typeface="Lato" pitchFamily="34" charset="0"/>
                <a:ea typeface="Lato" pitchFamily="34" charset="-122"/>
                <a:cs typeface="Lato" pitchFamily="34" charset="-120"/>
              </a:rPr>
              <a:t>MD.MEHEBUB HASAN</a:t>
            </a:r>
            <a:endParaRPr lang="en-US" sz="1700" dirty="0"/>
          </a:p>
        </p:txBody>
      </p:sp>
      <p:sp>
        <p:nvSpPr>
          <p:cNvPr id="20" name="Text 18"/>
          <p:cNvSpPr/>
          <p:nvPr/>
        </p:nvSpPr>
        <p:spPr>
          <a:xfrm>
            <a:off x="7539990" y="6517481"/>
            <a:ext cx="6088023" cy="353735"/>
          </a:xfrm>
          <a:prstGeom prst="rect">
            <a:avLst/>
          </a:prstGeom>
          <a:noFill/>
          <a:ln/>
        </p:spPr>
        <p:txBody>
          <a:bodyPr wrap="none" lIns="0" tIns="0" rIns="0" bIns="0" rtlCol="0" anchor="t"/>
          <a:lstStyle/>
          <a:p>
            <a:pPr marL="0" indent="0" algn="ctr">
              <a:lnSpc>
                <a:spcPts val="2750"/>
              </a:lnSpc>
              <a:buNone/>
            </a:pPr>
            <a:r>
              <a:rPr lang="en-US" sz="1700" dirty="0">
                <a:solidFill>
                  <a:srgbClr val="4A4A45"/>
                </a:solidFill>
                <a:latin typeface="Lato" pitchFamily="34" charset="0"/>
                <a:ea typeface="Lato" pitchFamily="34" charset="-122"/>
                <a:cs typeface="Lato" pitchFamily="34" charset="-120"/>
              </a:rPr>
              <a:t>22-46293-1</a:t>
            </a:r>
            <a:endParaRPr lang="en-US" sz="1700" dirty="0"/>
          </a:p>
        </p:txBody>
      </p:sp>
      <p:sp>
        <p:nvSpPr>
          <p:cNvPr id="21" name="Text 19"/>
          <p:cNvSpPr/>
          <p:nvPr/>
        </p:nvSpPr>
        <p:spPr>
          <a:xfrm>
            <a:off x="773787" y="7267813"/>
            <a:ext cx="13082826" cy="353735"/>
          </a:xfrm>
          <a:prstGeom prst="rect">
            <a:avLst/>
          </a:prstGeom>
          <a:noFill/>
          <a:ln/>
        </p:spPr>
        <p:txBody>
          <a:bodyPr wrap="none" lIns="0" tIns="0" rIns="0" bIns="0" rtlCol="0" anchor="t"/>
          <a:lstStyle/>
          <a:p>
            <a:pPr marL="0" indent="0" algn="l">
              <a:lnSpc>
                <a:spcPts val="2750"/>
              </a:lnSpc>
              <a:buNone/>
            </a:pP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564600"/>
            <a:ext cx="10586323" cy="708779"/>
          </a:xfrm>
          <a:prstGeom prst="rect">
            <a:avLst/>
          </a:prstGeom>
          <a:noFill/>
          <a:ln/>
        </p:spPr>
        <p:txBody>
          <a:bodyPr wrap="non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Baseline Paper Overview: The Foundation</a:t>
            </a:r>
            <a:endParaRPr lang="en-US" sz="4450" dirty="0"/>
          </a:p>
        </p:txBody>
      </p:sp>
      <p:sp>
        <p:nvSpPr>
          <p:cNvPr id="3" name="Shape 1"/>
          <p:cNvSpPr/>
          <p:nvPr/>
        </p:nvSpPr>
        <p:spPr>
          <a:xfrm>
            <a:off x="793790" y="2613541"/>
            <a:ext cx="6407944" cy="1730812"/>
          </a:xfrm>
          <a:prstGeom prst="roundRect">
            <a:avLst>
              <a:gd name="adj" fmla="val 8453"/>
            </a:avLst>
          </a:prstGeom>
          <a:solidFill>
            <a:srgbClr val="EFECE6"/>
          </a:solidFill>
          <a:ln w="30480">
            <a:solidFill>
              <a:srgbClr val="CBC5B8"/>
            </a:solidFill>
            <a:prstDash val="solid"/>
          </a:ln>
        </p:spPr>
        <p:txBody>
          <a:bodyPr/>
          <a:lstStyle/>
          <a:p>
            <a:endParaRPr lang="en-US"/>
          </a:p>
        </p:txBody>
      </p:sp>
      <p:sp>
        <p:nvSpPr>
          <p:cNvPr id="4" name="Shape 2"/>
          <p:cNvSpPr/>
          <p:nvPr/>
        </p:nvSpPr>
        <p:spPr>
          <a:xfrm>
            <a:off x="763310" y="2613541"/>
            <a:ext cx="121920" cy="1730812"/>
          </a:xfrm>
          <a:prstGeom prst="roundRect">
            <a:avLst>
              <a:gd name="adj" fmla="val 27907"/>
            </a:avLst>
          </a:prstGeom>
          <a:solidFill>
            <a:srgbClr val="282824"/>
          </a:solidFill>
          <a:ln/>
        </p:spPr>
        <p:txBody>
          <a:bodyPr/>
          <a:lstStyle/>
          <a:p>
            <a:endParaRPr lang="en-US"/>
          </a:p>
        </p:txBody>
      </p:sp>
      <p:sp>
        <p:nvSpPr>
          <p:cNvPr id="5" name="Text 3"/>
          <p:cNvSpPr/>
          <p:nvPr/>
        </p:nvSpPr>
        <p:spPr>
          <a:xfrm>
            <a:off x="1142524" y="287083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Title:</a:t>
            </a:r>
            <a:endParaRPr lang="en-US" sz="2200" dirty="0"/>
          </a:p>
        </p:txBody>
      </p:sp>
      <p:sp>
        <p:nvSpPr>
          <p:cNvPr id="6" name="Text 4"/>
          <p:cNvSpPr/>
          <p:nvPr/>
        </p:nvSpPr>
        <p:spPr>
          <a:xfrm>
            <a:off x="1142524" y="3361253"/>
            <a:ext cx="5801916"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Freshness Recognition of Fruit and Vegetable Images using GANs Series Data Augmentation</a:t>
            </a:r>
            <a:endParaRPr lang="en-US" sz="1750" dirty="0"/>
          </a:p>
        </p:txBody>
      </p:sp>
      <p:sp>
        <p:nvSpPr>
          <p:cNvPr id="7" name="Shape 5"/>
          <p:cNvSpPr/>
          <p:nvPr/>
        </p:nvSpPr>
        <p:spPr>
          <a:xfrm>
            <a:off x="7428548" y="2613541"/>
            <a:ext cx="6408063" cy="1730812"/>
          </a:xfrm>
          <a:prstGeom prst="roundRect">
            <a:avLst>
              <a:gd name="adj" fmla="val 8453"/>
            </a:avLst>
          </a:prstGeom>
          <a:solidFill>
            <a:srgbClr val="EFECE6"/>
          </a:solidFill>
          <a:ln w="30480">
            <a:solidFill>
              <a:srgbClr val="CBC5B8"/>
            </a:solidFill>
            <a:prstDash val="solid"/>
          </a:ln>
        </p:spPr>
        <p:txBody>
          <a:bodyPr/>
          <a:lstStyle/>
          <a:p>
            <a:endParaRPr lang="en-US"/>
          </a:p>
        </p:txBody>
      </p:sp>
      <p:sp>
        <p:nvSpPr>
          <p:cNvPr id="8" name="Shape 6"/>
          <p:cNvSpPr/>
          <p:nvPr/>
        </p:nvSpPr>
        <p:spPr>
          <a:xfrm>
            <a:off x="7398067" y="2613541"/>
            <a:ext cx="121920" cy="1730812"/>
          </a:xfrm>
          <a:prstGeom prst="roundRect">
            <a:avLst>
              <a:gd name="adj" fmla="val 27907"/>
            </a:avLst>
          </a:prstGeom>
          <a:solidFill>
            <a:srgbClr val="282824"/>
          </a:solidFill>
          <a:ln/>
        </p:spPr>
        <p:txBody>
          <a:bodyPr/>
          <a:lstStyle/>
          <a:p>
            <a:endParaRPr lang="en-US"/>
          </a:p>
        </p:txBody>
      </p:sp>
      <p:sp>
        <p:nvSpPr>
          <p:cNvPr id="9" name="Text 7"/>
          <p:cNvSpPr/>
          <p:nvPr/>
        </p:nvSpPr>
        <p:spPr>
          <a:xfrm>
            <a:off x="7777282" y="287083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Authors:</a:t>
            </a:r>
            <a:endParaRPr lang="en-US" sz="2200" dirty="0"/>
          </a:p>
        </p:txBody>
      </p:sp>
      <p:sp>
        <p:nvSpPr>
          <p:cNvPr id="10" name="Text 8"/>
          <p:cNvSpPr/>
          <p:nvPr/>
        </p:nvSpPr>
        <p:spPr>
          <a:xfrm>
            <a:off x="7777282" y="3361253"/>
            <a:ext cx="5802035"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Zhihong Zhao, Jieshun You, Yunong Cui (Beijing Institute of Technology)</a:t>
            </a:r>
            <a:endParaRPr lang="en-US" sz="1750" dirty="0"/>
          </a:p>
        </p:txBody>
      </p:sp>
      <p:sp>
        <p:nvSpPr>
          <p:cNvPr id="11" name="Shape 9"/>
          <p:cNvSpPr/>
          <p:nvPr/>
        </p:nvSpPr>
        <p:spPr>
          <a:xfrm>
            <a:off x="793790" y="4571167"/>
            <a:ext cx="6407944" cy="2093714"/>
          </a:xfrm>
          <a:prstGeom prst="roundRect">
            <a:avLst>
              <a:gd name="adj" fmla="val 6988"/>
            </a:avLst>
          </a:prstGeom>
          <a:solidFill>
            <a:srgbClr val="EFECE6"/>
          </a:solidFill>
          <a:ln w="30480">
            <a:solidFill>
              <a:srgbClr val="CBC5B8"/>
            </a:solidFill>
            <a:prstDash val="solid"/>
          </a:ln>
        </p:spPr>
        <p:txBody>
          <a:bodyPr/>
          <a:lstStyle/>
          <a:p>
            <a:endParaRPr lang="en-US"/>
          </a:p>
        </p:txBody>
      </p:sp>
      <p:sp>
        <p:nvSpPr>
          <p:cNvPr id="12" name="Shape 10"/>
          <p:cNvSpPr/>
          <p:nvPr/>
        </p:nvSpPr>
        <p:spPr>
          <a:xfrm>
            <a:off x="763310" y="4571167"/>
            <a:ext cx="121920" cy="2093714"/>
          </a:xfrm>
          <a:prstGeom prst="roundRect">
            <a:avLst>
              <a:gd name="adj" fmla="val 27907"/>
            </a:avLst>
          </a:prstGeom>
          <a:solidFill>
            <a:srgbClr val="282824"/>
          </a:solidFill>
          <a:ln/>
        </p:spPr>
        <p:txBody>
          <a:bodyPr/>
          <a:lstStyle/>
          <a:p>
            <a:endParaRPr lang="en-US"/>
          </a:p>
        </p:txBody>
      </p:sp>
      <p:sp>
        <p:nvSpPr>
          <p:cNvPr id="13" name="Text 11"/>
          <p:cNvSpPr/>
          <p:nvPr/>
        </p:nvSpPr>
        <p:spPr>
          <a:xfrm>
            <a:off x="1142524" y="482846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Venue &amp; Date:</a:t>
            </a:r>
            <a:endParaRPr lang="en-US" sz="2200" dirty="0"/>
          </a:p>
        </p:txBody>
      </p:sp>
      <p:sp>
        <p:nvSpPr>
          <p:cNvPr id="14" name="Text 12"/>
          <p:cNvSpPr/>
          <p:nvPr/>
        </p:nvSpPr>
        <p:spPr>
          <a:xfrm>
            <a:off x="1142524" y="5318879"/>
            <a:ext cx="5801916"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VSIP 2022, November 2022, Shanghai</a:t>
            </a:r>
            <a:endParaRPr lang="en-US" sz="1750" dirty="0"/>
          </a:p>
        </p:txBody>
      </p:sp>
      <p:sp>
        <p:nvSpPr>
          <p:cNvPr id="15" name="Shape 13"/>
          <p:cNvSpPr/>
          <p:nvPr/>
        </p:nvSpPr>
        <p:spPr>
          <a:xfrm>
            <a:off x="7428548" y="4571167"/>
            <a:ext cx="6408063" cy="2093714"/>
          </a:xfrm>
          <a:prstGeom prst="roundRect">
            <a:avLst>
              <a:gd name="adj" fmla="val 6988"/>
            </a:avLst>
          </a:prstGeom>
          <a:solidFill>
            <a:srgbClr val="EFECE6"/>
          </a:solidFill>
          <a:ln w="30480">
            <a:solidFill>
              <a:srgbClr val="CBC5B8"/>
            </a:solidFill>
            <a:prstDash val="solid"/>
          </a:ln>
        </p:spPr>
        <p:txBody>
          <a:bodyPr/>
          <a:lstStyle/>
          <a:p>
            <a:endParaRPr lang="en-US"/>
          </a:p>
        </p:txBody>
      </p:sp>
      <p:sp>
        <p:nvSpPr>
          <p:cNvPr id="16" name="Shape 14"/>
          <p:cNvSpPr/>
          <p:nvPr/>
        </p:nvSpPr>
        <p:spPr>
          <a:xfrm>
            <a:off x="7398067" y="4571167"/>
            <a:ext cx="121920" cy="2093714"/>
          </a:xfrm>
          <a:prstGeom prst="roundRect">
            <a:avLst>
              <a:gd name="adj" fmla="val 27907"/>
            </a:avLst>
          </a:prstGeom>
          <a:solidFill>
            <a:srgbClr val="282824"/>
          </a:solidFill>
          <a:ln/>
        </p:spPr>
        <p:txBody>
          <a:bodyPr/>
          <a:lstStyle/>
          <a:p>
            <a:endParaRPr lang="en-US"/>
          </a:p>
        </p:txBody>
      </p:sp>
      <p:sp>
        <p:nvSpPr>
          <p:cNvPr id="17" name="Text 15"/>
          <p:cNvSpPr/>
          <p:nvPr/>
        </p:nvSpPr>
        <p:spPr>
          <a:xfrm>
            <a:off x="7777282" y="482846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Key Contribution:</a:t>
            </a:r>
            <a:endParaRPr lang="en-US" sz="2200" dirty="0"/>
          </a:p>
        </p:txBody>
      </p:sp>
      <p:sp>
        <p:nvSpPr>
          <p:cNvPr id="18" name="Text 16"/>
          <p:cNvSpPr/>
          <p:nvPr/>
        </p:nvSpPr>
        <p:spPr>
          <a:xfrm>
            <a:off x="7777282" y="5318879"/>
            <a:ext cx="5802035" cy="1088708"/>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Proposed ACWGAN-GP with ProgressiveSpinalNet classifier, achieving 100% validation accuracy on Food Aayush dataset.</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87956"/>
            <a:ext cx="11852672" cy="708779"/>
          </a:xfrm>
          <a:prstGeom prst="rect">
            <a:avLst/>
          </a:prstGeom>
          <a:noFill/>
          <a:ln/>
        </p:spPr>
        <p:txBody>
          <a:bodyPr wrap="non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Dissecting the Baseline: ACWGAN-GP Pipeline</a:t>
            </a:r>
            <a:endParaRPr lang="en-US" sz="4450" dirty="0"/>
          </a:p>
        </p:txBody>
      </p:sp>
      <p:sp>
        <p:nvSpPr>
          <p:cNvPr id="3" name="Shape 1"/>
          <p:cNvSpPr/>
          <p:nvPr/>
        </p:nvSpPr>
        <p:spPr>
          <a:xfrm>
            <a:off x="793790" y="1950363"/>
            <a:ext cx="1304211" cy="807958"/>
          </a:xfrm>
          <a:prstGeom prst="roundRect">
            <a:avLst>
              <a:gd name="adj" fmla="val 4211"/>
            </a:avLst>
          </a:prstGeom>
          <a:solidFill>
            <a:srgbClr val="E5DFD2"/>
          </a:solidFill>
          <a:ln/>
        </p:spPr>
        <p:txBody>
          <a:bodyPr/>
          <a:lstStyle/>
          <a:p>
            <a:endParaRPr lang="en-US"/>
          </a:p>
        </p:txBody>
      </p:sp>
      <p:sp>
        <p:nvSpPr>
          <p:cNvPr id="4" name="Text 2"/>
          <p:cNvSpPr/>
          <p:nvPr/>
        </p:nvSpPr>
        <p:spPr>
          <a:xfrm>
            <a:off x="1286351" y="2155031"/>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4A4A45"/>
                </a:solidFill>
                <a:latin typeface="Lato Bold" pitchFamily="34" charset="0"/>
                <a:ea typeface="Lato Bold" pitchFamily="34" charset="-122"/>
                <a:cs typeface="Lato Bold" pitchFamily="34" charset="-120"/>
              </a:rPr>
              <a:t>1</a:t>
            </a:r>
            <a:endParaRPr lang="en-US" sz="2500" dirty="0"/>
          </a:p>
        </p:txBody>
      </p:sp>
      <p:sp>
        <p:nvSpPr>
          <p:cNvPr id="5" name="Text 3"/>
          <p:cNvSpPr/>
          <p:nvPr/>
        </p:nvSpPr>
        <p:spPr>
          <a:xfrm>
            <a:off x="2324814" y="2177177"/>
            <a:ext cx="268795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Food Aayush Dataset</a:t>
            </a:r>
            <a:endParaRPr lang="en-US" sz="2200" dirty="0"/>
          </a:p>
        </p:txBody>
      </p:sp>
      <p:sp>
        <p:nvSpPr>
          <p:cNvPr id="6" name="Shape 4"/>
          <p:cNvSpPr/>
          <p:nvPr/>
        </p:nvSpPr>
        <p:spPr>
          <a:xfrm>
            <a:off x="2211348" y="2743081"/>
            <a:ext cx="11511915" cy="15240"/>
          </a:xfrm>
          <a:prstGeom prst="roundRect">
            <a:avLst>
              <a:gd name="adj" fmla="val 223256"/>
            </a:avLst>
          </a:prstGeom>
          <a:solidFill>
            <a:srgbClr val="CBC5B8"/>
          </a:solidFill>
          <a:ln/>
        </p:spPr>
        <p:txBody>
          <a:bodyPr/>
          <a:lstStyle/>
          <a:p>
            <a:endParaRPr lang="en-US"/>
          </a:p>
        </p:txBody>
      </p:sp>
      <p:sp>
        <p:nvSpPr>
          <p:cNvPr id="7" name="Shape 5"/>
          <p:cNvSpPr/>
          <p:nvPr/>
        </p:nvSpPr>
        <p:spPr>
          <a:xfrm>
            <a:off x="793790" y="2871668"/>
            <a:ext cx="2608540" cy="807958"/>
          </a:xfrm>
          <a:prstGeom prst="roundRect">
            <a:avLst>
              <a:gd name="adj" fmla="val 4211"/>
            </a:avLst>
          </a:prstGeom>
          <a:solidFill>
            <a:srgbClr val="E5DFD2"/>
          </a:solidFill>
          <a:ln/>
        </p:spPr>
        <p:txBody>
          <a:bodyPr/>
          <a:lstStyle/>
          <a:p>
            <a:endParaRPr lang="en-US"/>
          </a:p>
        </p:txBody>
      </p:sp>
      <p:sp>
        <p:nvSpPr>
          <p:cNvPr id="8" name="Text 6"/>
          <p:cNvSpPr/>
          <p:nvPr/>
        </p:nvSpPr>
        <p:spPr>
          <a:xfrm>
            <a:off x="1938576" y="3076337"/>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4A4A45"/>
                </a:solidFill>
                <a:latin typeface="Lato Bold" pitchFamily="34" charset="0"/>
                <a:ea typeface="Lato Bold" pitchFamily="34" charset="-122"/>
                <a:cs typeface="Lato Bold" pitchFamily="34" charset="-120"/>
              </a:rPr>
              <a:t>2</a:t>
            </a:r>
            <a:endParaRPr lang="en-US" sz="2500" dirty="0"/>
          </a:p>
        </p:txBody>
      </p:sp>
      <p:sp>
        <p:nvSpPr>
          <p:cNvPr id="9" name="Text 7"/>
          <p:cNvSpPr/>
          <p:nvPr/>
        </p:nvSpPr>
        <p:spPr>
          <a:xfrm>
            <a:off x="3629144" y="3098483"/>
            <a:ext cx="3531989"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GAN Augmentation Module</a:t>
            </a:r>
            <a:endParaRPr lang="en-US" sz="2200" dirty="0"/>
          </a:p>
        </p:txBody>
      </p:sp>
      <p:sp>
        <p:nvSpPr>
          <p:cNvPr id="10" name="Shape 8"/>
          <p:cNvSpPr/>
          <p:nvPr/>
        </p:nvSpPr>
        <p:spPr>
          <a:xfrm>
            <a:off x="3515678" y="3664387"/>
            <a:ext cx="10207585" cy="15240"/>
          </a:xfrm>
          <a:prstGeom prst="roundRect">
            <a:avLst>
              <a:gd name="adj" fmla="val 223256"/>
            </a:avLst>
          </a:prstGeom>
          <a:solidFill>
            <a:srgbClr val="CBC5B8"/>
          </a:solidFill>
          <a:ln/>
        </p:spPr>
        <p:txBody>
          <a:bodyPr/>
          <a:lstStyle/>
          <a:p>
            <a:endParaRPr lang="en-US"/>
          </a:p>
        </p:txBody>
      </p:sp>
      <p:sp>
        <p:nvSpPr>
          <p:cNvPr id="11" name="Shape 9"/>
          <p:cNvSpPr/>
          <p:nvPr/>
        </p:nvSpPr>
        <p:spPr>
          <a:xfrm>
            <a:off x="793790" y="3792974"/>
            <a:ext cx="3912751" cy="807958"/>
          </a:xfrm>
          <a:prstGeom prst="roundRect">
            <a:avLst>
              <a:gd name="adj" fmla="val 4211"/>
            </a:avLst>
          </a:prstGeom>
          <a:solidFill>
            <a:srgbClr val="E5DFD2"/>
          </a:solidFill>
          <a:ln/>
        </p:spPr>
        <p:txBody>
          <a:bodyPr/>
          <a:lstStyle/>
          <a:p>
            <a:endParaRPr lang="en-US"/>
          </a:p>
        </p:txBody>
      </p:sp>
      <p:sp>
        <p:nvSpPr>
          <p:cNvPr id="12" name="Text 10"/>
          <p:cNvSpPr/>
          <p:nvPr/>
        </p:nvSpPr>
        <p:spPr>
          <a:xfrm>
            <a:off x="2590681" y="3997643"/>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4A4A45"/>
                </a:solidFill>
                <a:latin typeface="Lato Bold" pitchFamily="34" charset="0"/>
                <a:ea typeface="Lato Bold" pitchFamily="34" charset="-122"/>
                <a:cs typeface="Lato Bold" pitchFamily="34" charset="-120"/>
              </a:rPr>
              <a:t>3</a:t>
            </a:r>
            <a:endParaRPr lang="en-US" sz="2500" dirty="0"/>
          </a:p>
        </p:txBody>
      </p:sp>
      <p:sp>
        <p:nvSpPr>
          <p:cNvPr id="13" name="Text 11"/>
          <p:cNvSpPr/>
          <p:nvPr/>
        </p:nvSpPr>
        <p:spPr>
          <a:xfrm>
            <a:off x="4933355" y="4019788"/>
            <a:ext cx="3529132"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Synthetic Image Generation</a:t>
            </a:r>
            <a:endParaRPr lang="en-US" sz="2200" dirty="0"/>
          </a:p>
        </p:txBody>
      </p:sp>
      <p:sp>
        <p:nvSpPr>
          <p:cNvPr id="14" name="Shape 12"/>
          <p:cNvSpPr/>
          <p:nvPr/>
        </p:nvSpPr>
        <p:spPr>
          <a:xfrm>
            <a:off x="4819888" y="4585692"/>
            <a:ext cx="8903375" cy="15240"/>
          </a:xfrm>
          <a:prstGeom prst="roundRect">
            <a:avLst>
              <a:gd name="adj" fmla="val 223256"/>
            </a:avLst>
          </a:prstGeom>
          <a:solidFill>
            <a:srgbClr val="CBC5B8"/>
          </a:solidFill>
          <a:ln/>
        </p:spPr>
        <p:txBody>
          <a:bodyPr/>
          <a:lstStyle/>
          <a:p>
            <a:endParaRPr lang="en-US"/>
          </a:p>
        </p:txBody>
      </p:sp>
      <p:sp>
        <p:nvSpPr>
          <p:cNvPr id="15" name="Shape 13"/>
          <p:cNvSpPr/>
          <p:nvPr/>
        </p:nvSpPr>
        <p:spPr>
          <a:xfrm>
            <a:off x="793790" y="4714280"/>
            <a:ext cx="5217081" cy="1306949"/>
          </a:xfrm>
          <a:prstGeom prst="roundRect">
            <a:avLst>
              <a:gd name="adj" fmla="val 2603"/>
            </a:avLst>
          </a:prstGeom>
          <a:solidFill>
            <a:srgbClr val="E5DFD2"/>
          </a:solidFill>
          <a:ln/>
        </p:spPr>
        <p:txBody>
          <a:bodyPr/>
          <a:lstStyle/>
          <a:p>
            <a:endParaRPr lang="en-US"/>
          </a:p>
        </p:txBody>
      </p:sp>
      <p:sp>
        <p:nvSpPr>
          <p:cNvPr id="16" name="Text 14"/>
          <p:cNvSpPr/>
          <p:nvPr/>
        </p:nvSpPr>
        <p:spPr>
          <a:xfrm>
            <a:off x="3242786" y="5168384"/>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4A4A45"/>
                </a:solidFill>
                <a:latin typeface="Lato Bold" pitchFamily="34" charset="0"/>
                <a:ea typeface="Lato Bold" pitchFamily="34" charset="-122"/>
                <a:cs typeface="Lato Bold" pitchFamily="34" charset="-120"/>
              </a:rPr>
              <a:t>4</a:t>
            </a:r>
            <a:endParaRPr lang="en-US" sz="2500" dirty="0"/>
          </a:p>
        </p:txBody>
      </p:sp>
      <p:sp>
        <p:nvSpPr>
          <p:cNvPr id="17" name="Text 15"/>
          <p:cNvSpPr/>
          <p:nvPr/>
        </p:nvSpPr>
        <p:spPr>
          <a:xfrm>
            <a:off x="6237684" y="4941094"/>
            <a:ext cx="2576989"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Classification Model</a:t>
            </a:r>
            <a:endParaRPr lang="en-US" sz="2200" dirty="0"/>
          </a:p>
        </p:txBody>
      </p:sp>
      <p:sp>
        <p:nvSpPr>
          <p:cNvPr id="18" name="Text 16"/>
          <p:cNvSpPr/>
          <p:nvPr/>
        </p:nvSpPr>
        <p:spPr>
          <a:xfrm>
            <a:off x="6237684" y="5431512"/>
            <a:ext cx="2576989"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9" name="Shape 17"/>
          <p:cNvSpPr/>
          <p:nvPr/>
        </p:nvSpPr>
        <p:spPr>
          <a:xfrm>
            <a:off x="6124218" y="6005989"/>
            <a:ext cx="7599045" cy="15240"/>
          </a:xfrm>
          <a:prstGeom prst="roundRect">
            <a:avLst>
              <a:gd name="adj" fmla="val 223256"/>
            </a:avLst>
          </a:prstGeom>
          <a:solidFill>
            <a:srgbClr val="CBC5B8"/>
          </a:solidFill>
          <a:ln/>
        </p:spPr>
        <p:txBody>
          <a:bodyPr/>
          <a:lstStyle/>
          <a:p>
            <a:endParaRPr lang="en-US"/>
          </a:p>
        </p:txBody>
      </p:sp>
      <p:sp>
        <p:nvSpPr>
          <p:cNvPr id="20" name="Shape 18"/>
          <p:cNvSpPr/>
          <p:nvPr/>
        </p:nvSpPr>
        <p:spPr>
          <a:xfrm>
            <a:off x="793790" y="6134576"/>
            <a:ext cx="6521410" cy="1306949"/>
          </a:xfrm>
          <a:prstGeom prst="roundRect">
            <a:avLst>
              <a:gd name="adj" fmla="val 2603"/>
            </a:avLst>
          </a:prstGeom>
          <a:solidFill>
            <a:srgbClr val="E5DFD2"/>
          </a:solidFill>
          <a:ln/>
        </p:spPr>
        <p:txBody>
          <a:bodyPr/>
          <a:lstStyle/>
          <a:p>
            <a:endParaRPr lang="en-US"/>
          </a:p>
        </p:txBody>
      </p:sp>
      <p:sp>
        <p:nvSpPr>
          <p:cNvPr id="21" name="Text 19"/>
          <p:cNvSpPr/>
          <p:nvPr/>
        </p:nvSpPr>
        <p:spPr>
          <a:xfrm>
            <a:off x="3895011" y="6588681"/>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4A4A45"/>
                </a:solidFill>
                <a:latin typeface="Lato Bold" pitchFamily="34" charset="0"/>
                <a:ea typeface="Lato Bold" pitchFamily="34" charset="-122"/>
                <a:cs typeface="Lato Bold" pitchFamily="34" charset="-120"/>
              </a:rPr>
              <a:t>5</a:t>
            </a:r>
            <a:endParaRPr lang="en-US" sz="2500" dirty="0"/>
          </a:p>
        </p:txBody>
      </p:sp>
      <p:sp>
        <p:nvSpPr>
          <p:cNvPr id="22" name="Text 20"/>
          <p:cNvSpPr/>
          <p:nvPr/>
        </p:nvSpPr>
        <p:spPr>
          <a:xfrm>
            <a:off x="7542014" y="6361390"/>
            <a:ext cx="4421862"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Final Classifier with Synthetic Data</a:t>
            </a:r>
            <a:endParaRPr lang="en-US" sz="2200" dirty="0"/>
          </a:p>
        </p:txBody>
      </p:sp>
      <p:sp>
        <p:nvSpPr>
          <p:cNvPr id="23" name="Text 21"/>
          <p:cNvSpPr/>
          <p:nvPr/>
        </p:nvSpPr>
        <p:spPr>
          <a:xfrm>
            <a:off x="7542014" y="6851809"/>
            <a:ext cx="4421862"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56586" y="528042"/>
            <a:ext cx="10044351" cy="598646"/>
          </a:xfrm>
          <a:prstGeom prst="rect">
            <a:avLst/>
          </a:prstGeom>
          <a:noFill/>
          <a:ln/>
        </p:spPr>
        <p:txBody>
          <a:bodyPr wrap="none" lIns="0" tIns="0" rIns="0" bIns="0" rtlCol="0" anchor="t"/>
          <a:lstStyle/>
          <a:p>
            <a:pPr marL="0" indent="0" algn="l">
              <a:lnSpc>
                <a:spcPts val="4700"/>
              </a:lnSpc>
              <a:buNone/>
            </a:pPr>
            <a:r>
              <a:rPr lang="en-US" sz="3750" b="1" dirty="0">
                <a:solidFill>
                  <a:srgbClr val="282824"/>
                </a:solidFill>
                <a:latin typeface="Lato Bold" pitchFamily="34" charset="0"/>
                <a:ea typeface="Lato Bold" pitchFamily="34" charset="-122"/>
                <a:cs typeface="Lato Bold" pitchFamily="34" charset="-120"/>
              </a:rPr>
              <a:t>Baseline Results: Impact of GAN Augmentation</a:t>
            </a:r>
            <a:endParaRPr lang="en-US" sz="3750" dirty="0"/>
          </a:p>
        </p:txBody>
      </p:sp>
      <p:sp>
        <p:nvSpPr>
          <p:cNvPr id="3" name="Shape 1"/>
          <p:cNvSpPr/>
          <p:nvPr/>
        </p:nvSpPr>
        <p:spPr>
          <a:xfrm>
            <a:off x="1256586" y="1509832"/>
            <a:ext cx="12117229" cy="3890963"/>
          </a:xfrm>
          <a:prstGeom prst="roundRect">
            <a:avLst>
              <a:gd name="adj" fmla="val 739"/>
            </a:avLst>
          </a:prstGeom>
          <a:noFill/>
          <a:ln w="7620">
            <a:solidFill>
              <a:srgbClr val="000000">
                <a:alpha val="8000"/>
              </a:srgbClr>
            </a:solidFill>
            <a:prstDash val="solid"/>
          </a:ln>
        </p:spPr>
        <p:txBody>
          <a:bodyPr/>
          <a:lstStyle/>
          <a:p>
            <a:endParaRPr lang="en-US"/>
          </a:p>
        </p:txBody>
      </p:sp>
      <p:sp>
        <p:nvSpPr>
          <p:cNvPr id="4" name="Shape 2"/>
          <p:cNvSpPr/>
          <p:nvPr/>
        </p:nvSpPr>
        <p:spPr>
          <a:xfrm>
            <a:off x="1264206" y="1517452"/>
            <a:ext cx="12101989" cy="551498"/>
          </a:xfrm>
          <a:prstGeom prst="rect">
            <a:avLst/>
          </a:prstGeom>
          <a:solidFill>
            <a:srgbClr val="FFFFFF">
              <a:alpha val="4000"/>
            </a:srgbClr>
          </a:solidFill>
          <a:ln/>
        </p:spPr>
        <p:txBody>
          <a:bodyPr/>
          <a:lstStyle/>
          <a:p>
            <a:endParaRPr lang="en-US"/>
          </a:p>
        </p:txBody>
      </p:sp>
      <p:sp>
        <p:nvSpPr>
          <p:cNvPr id="5" name="Text 3"/>
          <p:cNvSpPr/>
          <p:nvPr/>
        </p:nvSpPr>
        <p:spPr>
          <a:xfrm>
            <a:off x="1455896" y="1639967"/>
            <a:ext cx="8084344" cy="306467"/>
          </a:xfrm>
          <a:prstGeom prst="rect">
            <a:avLst/>
          </a:prstGeom>
          <a:noFill/>
          <a:ln/>
        </p:spPr>
        <p:txBody>
          <a:bodyPr wrap="none" lIns="0" tIns="0" rIns="0" bIns="0" rtlCol="0" anchor="t"/>
          <a:lstStyle/>
          <a:p>
            <a:pPr marL="0" indent="0" algn="l">
              <a:lnSpc>
                <a:spcPts val="2400"/>
              </a:lnSpc>
              <a:buNone/>
            </a:pPr>
            <a:r>
              <a:rPr lang="en-US" sz="1500" dirty="0">
                <a:solidFill>
                  <a:srgbClr val="4A4A45"/>
                </a:solidFill>
                <a:latin typeface="Lato" pitchFamily="34" charset="0"/>
                <a:ea typeface="Lato" pitchFamily="34" charset="-122"/>
                <a:cs typeface="Lato" pitchFamily="34" charset="-120"/>
              </a:rPr>
              <a:t>Classification Model</a:t>
            </a:r>
            <a:endParaRPr lang="en-US" sz="1500" dirty="0"/>
          </a:p>
        </p:txBody>
      </p:sp>
      <p:sp>
        <p:nvSpPr>
          <p:cNvPr id="6" name="Text 4"/>
          <p:cNvSpPr/>
          <p:nvPr/>
        </p:nvSpPr>
        <p:spPr>
          <a:xfrm>
            <a:off x="9931003" y="1639967"/>
            <a:ext cx="3243620" cy="306467"/>
          </a:xfrm>
          <a:prstGeom prst="rect">
            <a:avLst/>
          </a:prstGeom>
          <a:noFill/>
          <a:ln/>
        </p:spPr>
        <p:txBody>
          <a:bodyPr wrap="none" lIns="0" tIns="0" rIns="0" bIns="0" rtlCol="0" anchor="t"/>
          <a:lstStyle/>
          <a:p>
            <a:pPr marL="0" indent="0" algn="l">
              <a:lnSpc>
                <a:spcPts val="2400"/>
              </a:lnSpc>
              <a:buNone/>
            </a:pPr>
            <a:r>
              <a:rPr lang="en-US" sz="1500" dirty="0">
                <a:solidFill>
                  <a:srgbClr val="4A4A45"/>
                </a:solidFill>
                <a:latin typeface="Lato" pitchFamily="34" charset="0"/>
                <a:ea typeface="Lato" pitchFamily="34" charset="-122"/>
                <a:cs typeface="Lato" pitchFamily="34" charset="-120"/>
              </a:rPr>
              <a:t>Accuracy</a:t>
            </a:r>
            <a:endParaRPr lang="en-US" sz="1500" dirty="0"/>
          </a:p>
        </p:txBody>
      </p:sp>
      <p:sp>
        <p:nvSpPr>
          <p:cNvPr id="7" name="Shape 5"/>
          <p:cNvSpPr/>
          <p:nvPr/>
        </p:nvSpPr>
        <p:spPr>
          <a:xfrm>
            <a:off x="1264206" y="2068949"/>
            <a:ext cx="12101989" cy="551498"/>
          </a:xfrm>
          <a:prstGeom prst="rect">
            <a:avLst/>
          </a:prstGeom>
          <a:solidFill>
            <a:srgbClr val="000000">
              <a:alpha val="4000"/>
            </a:srgbClr>
          </a:solidFill>
          <a:ln/>
        </p:spPr>
        <p:txBody>
          <a:bodyPr/>
          <a:lstStyle/>
          <a:p>
            <a:endParaRPr lang="en-US"/>
          </a:p>
        </p:txBody>
      </p:sp>
      <p:sp>
        <p:nvSpPr>
          <p:cNvPr id="8" name="Text 6"/>
          <p:cNvSpPr/>
          <p:nvPr/>
        </p:nvSpPr>
        <p:spPr>
          <a:xfrm>
            <a:off x="1455896" y="2191464"/>
            <a:ext cx="8084344" cy="306467"/>
          </a:xfrm>
          <a:prstGeom prst="rect">
            <a:avLst/>
          </a:prstGeom>
          <a:noFill/>
          <a:ln/>
        </p:spPr>
        <p:txBody>
          <a:bodyPr wrap="none" lIns="0" tIns="0" rIns="0" bIns="0" rtlCol="0" anchor="t"/>
          <a:lstStyle/>
          <a:p>
            <a:pPr marL="0" indent="0" algn="l">
              <a:lnSpc>
                <a:spcPts val="2400"/>
              </a:lnSpc>
              <a:buNone/>
            </a:pPr>
            <a:r>
              <a:rPr lang="en-US" sz="1500" dirty="0">
                <a:solidFill>
                  <a:srgbClr val="4A4A45"/>
                </a:solidFill>
                <a:latin typeface="Lato" pitchFamily="34" charset="0"/>
                <a:ea typeface="Lato" pitchFamily="34" charset="-122"/>
                <a:cs typeface="Lato" pitchFamily="34" charset="-120"/>
              </a:rPr>
              <a:t>Wide ResNet (Spinal FC)</a:t>
            </a:r>
            <a:endParaRPr lang="en-US" sz="1500" dirty="0"/>
          </a:p>
        </p:txBody>
      </p:sp>
      <p:sp>
        <p:nvSpPr>
          <p:cNvPr id="9" name="Text 7"/>
          <p:cNvSpPr/>
          <p:nvPr/>
        </p:nvSpPr>
        <p:spPr>
          <a:xfrm>
            <a:off x="9931003" y="2191464"/>
            <a:ext cx="3243620" cy="306467"/>
          </a:xfrm>
          <a:prstGeom prst="rect">
            <a:avLst/>
          </a:prstGeom>
          <a:noFill/>
          <a:ln/>
        </p:spPr>
        <p:txBody>
          <a:bodyPr wrap="none" lIns="0" tIns="0" rIns="0" bIns="0" rtlCol="0" anchor="t"/>
          <a:lstStyle/>
          <a:p>
            <a:pPr marL="0" indent="0" algn="l">
              <a:lnSpc>
                <a:spcPts val="2400"/>
              </a:lnSpc>
              <a:buNone/>
            </a:pPr>
            <a:r>
              <a:rPr lang="en-US" sz="1500" dirty="0">
                <a:solidFill>
                  <a:srgbClr val="4A4A45"/>
                </a:solidFill>
                <a:latin typeface="Lato" pitchFamily="34" charset="0"/>
                <a:ea typeface="Lato" pitchFamily="34" charset="-122"/>
                <a:cs typeface="Lato" pitchFamily="34" charset="-120"/>
              </a:rPr>
              <a:t>99.86%</a:t>
            </a:r>
            <a:endParaRPr lang="en-US" sz="1500" dirty="0"/>
          </a:p>
        </p:txBody>
      </p:sp>
      <p:sp>
        <p:nvSpPr>
          <p:cNvPr id="10" name="Shape 8"/>
          <p:cNvSpPr/>
          <p:nvPr/>
        </p:nvSpPr>
        <p:spPr>
          <a:xfrm>
            <a:off x="1264206" y="2620447"/>
            <a:ext cx="12101989" cy="551498"/>
          </a:xfrm>
          <a:prstGeom prst="rect">
            <a:avLst/>
          </a:prstGeom>
          <a:solidFill>
            <a:srgbClr val="FFFFFF">
              <a:alpha val="4000"/>
            </a:srgbClr>
          </a:solidFill>
          <a:ln/>
        </p:spPr>
        <p:txBody>
          <a:bodyPr/>
          <a:lstStyle/>
          <a:p>
            <a:endParaRPr lang="en-US"/>
          </a:p>
        </p:txBody>
      </p:sp>
      <p:sp>
        <p:nvSpPr>
          <p:cNvPr id="11" name="Text 9"/>
          <p:cNvSpPr/>
          <p:nvPr/>
        </p:nvSpPr>
        <p:spPr>
          <a:xfrm>
            <a:off x="1455896" y="2742962"/>
            <a:ext cx="8084344" cy="306467"/>
          </a:xfrm>
          <a:prstGeom prst="rect">
            <a:avLst/>
          </a:prstGeom>
          <a:noFill/>
          <a:ln/>
        </p:spPr>
        <p:txBody>
          <a:bodyPr wrap="none" lIns="0" tIns="0" rIns="0" bIns="0" rtlCol="0" anchor="t"/>
          <a:lstStyle/>
          <a:p>
            <a:pPr marL="0" indent="0" algn="l">
              <a:lnSpc>
                <a:spcPts val="2400"/>
              </a:lnSpc>
              <a:buNone/>
            </a:pPr>
            <a:r>
              <a:rPr lang="en-US" sz="1500" dirty="0">
                <a:solidFill>
                  <a:srgbClr val="4A4A45"/>
                </a:solidFill>
                <a:latin typeface="Lato" pitchFamily="34" charset="0"/>
                <a:ea typeface="Lato" pitchFamily="34" charset="-122"/>
                <a:cs typeface="Lato" pitchFamily="34" charset="-120"/>
              </a:rPr>
              <a:t>Wide ResNet (ProgressiveSpinal FC)</a:t>
            </a:r>
            <a:endParaRPr lang="en-US" sz="1500" dirty="0"/>
          </a:p>
        </p:txBody>
      </p:sp>
      <p:sp>
        <p:nvSpPr>
          <p:cNvPr id="12" name="Text 10"/>
          <p:cNvSpPr/>
          <p:nvPr/>
        </p:nvSpPr>
        <p:spPr>
          <a:xfrm>
            <a:off x="9931003" y="2742962"/>
            <a:ext cx="3243620" cy="306467"/>
          </a:xfrm>
          <a:prstGeom prst="rect">
            <a:avLst/>
          </a:prstGeom>
          <a:noFill/>
          <a:ln/>
        </p:spPr>
        <p:txBody>
          <a:bodyPr wrap="none" lIns="0" tIns="0" rIns="0" bIns="0" rtlCol="0" anchor="t"/>
          <a:lstStyle/>
          <a:p>
            <a:pPr marL="0" indent="0" algn="l">
              <a:lnSpc>
                <a:spcPts val="2400"/>
              </a:lnSpc>
              <a:buNone/>
            </a:pPr>
            <a:r>
              <a:rPr lang="en-US" sz="1500" dirty="0">
                <a:solidFill>
                  <a:srgbClr val="4A4A45"/>
                </a:solidFill>
                <a:latin typeface="Lato" pitchFamily="34" charset="0"/>
                <a:ea typeface="Lato" pitchFamily="34" charset="-122"/>
                <a:cs typeface="Lato" pitchFamily="34" charset="-120"/>
              </a:rPr>
              <a:t>99.95%</a:t>
            </a:r>
            <a:endParaRPr lang="en-US" sz="1500" dirty="0"/>
          </a:p>
        </p:txBody>
      </p:sp>
      <p:sp>
        <p:nvSpPr>
          <p:cNvPr id="13" name="Shape 11"/>
          <p:cNvSpPr/>
          <p:nvPr/>
        </p:nvSpPr>
        <p:spPr>
          <a:xfrm>
            <a:off x="1264206" y="3171944"/>
            <a:ext cx="12101989" cy="566738"/>
          </a:xfrm>
          <a:prstGeom prst="rect">
            <a:avLst/>
          </a:prstGeom>
          <a:solidFill>
            <a:srgbClr val="000000">
              <a:alpha val="4000"/>
            </a:srgbClr>
          </a:solidFill>
          <a:ln/>
        </p:spPr>
        <p:txBody>
          <a:bodyPr/>
          <a:lstStyle/>
          <a:p>
            <a:endParaRPr lang="en-US"/>
          </a:p>
        </p:txBody>
      </p:sp>
      <p:sp>
        <p:nvSpPr>
          <p:cNvPr id="14" name="Text 12"/>
          <p:cNvSpPr/>
          <p:nvPr/>
        </p:nvSpPr>
        <p:spPr>
          <a:xfrm>
            <a:off x="1455896" y="3294459"/>
            <a:ext cx="8084344" cy="306467"/>
          </a:xfrm>
          <a:prstGeom prst="rect">
            <a:avLst/>
          </a:prstGeom>
          <a:noFill/>
          <a:ln/>
        </p:spPr>
        <p:txBody>
          <a:bodyPr wrap="none" lIns="0" tIns="0" rIns="0" bIns="0" rtlCol="0" anchor="t"/>
          <a:lstStyle/>
          <a:p>
            <a:pPr marL="0" indent="0" algn="l">
              <a:lnSpc>
                <a:spcPts val="2400"/>
              </a:lnSpc>
              <a:buNone/>
            </a:pPr>
            <a:r>
              <a:rPr lang="en-US" sz="1500" b="1" dirty="0">
                <a:solidFill>
                  <a:srgbClr val="4A4A45"/>
                </a:solidFill>
                <a:latin typeface="Lato" pitchFamily="34" charset="0"/>
                <a:ea typeface="Lato" pitchFamily="34" charset="-122"/>
                <a:cs typeface="Lato" pitchFamily="34" charset="-120"/>
              </a:rPr>
              <a:t>+ 10k CGAN synthetic images</a:t>
            </a:r>
            <a:endParaRPr lang="en-US" sz="1500" dirty="0"/>
          </a:p>
        </p:txBody>
      </p:sp>
      <p:sp>
        <p:nvSpPr>
          <p:cNvPr id="15" name="Text 13"/>
          <p:cNvSpPr/>
          <p:nvPr/>
        </p:nvSpPr>
        <p:spPr>
          <a:xfrm>
            <a:off x="9931003" y="3294459"/>
            <a:ext cx="3243620" cy="321707"/>
          </a:xfrm>
          <a:prstGeom prst="rect">
            <a:avLst/>
          </a:prstGeom>
          <a:noFill/>
          <a:ln/>
        </p:spPr>
        <p:txBody>
          <a:bodyPr wrap="none" lIns="0" tIns="0" rIns="0" bIns="0" rtlCol="0" anchor="t"/>
          <a:lstStyle/>
          <a:p>
            <a:pPr marL="0" indent="0" algn="l">
              <a:lnSpc>
                <a:spcPts val="2400"/>
              </a:lnSpc>
              <a:buNone/>
            </a:pPr>
            <a:r>
              <a:rPr lang="en-US" sz="1500" b="1" dirty="0">
                <a:solidFill>
                  <a:srgbClr val="4A4A45"/>
                </a:solidFill>
                <a:latin typeface="Lato" pitchFamily="34" charset="0"/>
                <a:ea typeface="Lato" pitchFamily="34" charset="-122"/>
                <a:cs typeface="Lato" pitchFamily="34" charset="-120"/>
              </a:rPr>
              <a:t>99.28% </a:t>
            </a:r>
            <a:r>
              <a:rPr lang="en-US" sz="1500" dirty="0">
                <a:solidFill>
                  <a:srgbClr val="000000"/>
                </a:solidFill>
                <a:latin typeface="Lato" pitchFamily="34" charset="0"/>
                <a:ea typeface="Lato" pitchFamily="34" charset="-122"/>
                <a:cs typeface="Lato" pitchFamily="34" charset="-120"/>
              </a:rPr>
              <a:t>❌</a:t>
            </a:r>
            <a:endParaRPr lang="en-US" sz="1500" dirty="0"/>
          </a:p>
        </p:txBody>
      </p:sp>
      <p:sp>
        <p:nvSpPr>
          <p:cNvPr id="16" name="Shape 14"/>
          <p:cNvSpPr/>
          <p:nvPr/>
        </p:nvSpPr>
        <p:spPr>
          <a:xfrm>
            <a:off x="1264206" y="3738682"/>
            <a:ext cx="12101989" cy="551498"/>
          </a:xfrm>
          <a:prstGeom prst="rect">
            <a:avLst/>
          </a:prstGeom>
          <a:solidFill>
            <a:srgbClr val="FFFFFF">
              <a:alpha val="4000"/>
            </a:srgbClr>
          </a:solidFill>
          <a:ln/>
        </p:spPr>
        <p:txBody>
          <a:bodyPr/>
          <a:lstStyle/>
          <a:p>
            <a:endParaRPr lang="en-US"/>
          </a:p>
        </p:txBody>
      </p:sp>
      <p:sp>
        <p:nvSpPr>
          <p:cNvPr id="17" name="Text 15"/>
          <p:cNvSpPr/>
          <p:nvPr/>
        </p:nvSpPr>
        <p:spPr>
          <a:xfrm>
            <a:off x="1455896" y="3861197"/>
            <a:ext cx="8084344" cy="306467"/>
          </a:xfrm>
          <a:prstGeom prst="rect">
            <a:avLst/>
          </a:prstGeom>
          <a:noFill/>
          <a:ln/>
        </p:spPr>
        <p:txBody>
          <a:bodyPr wrap="none" lIns="0" tIns="0" rIns="0" bIns="0" rtlCol="0" anchor="t"/>
          <a:lstStyle/>
          <a:p>
            <a:pPr marL="0" indent="0" algn="l">
              <a:lnSpc>
                <a:spcPts val="2400"/>
              </a:lnSpc>
              <a:buNone/>
            </a:pPr>
            <a:r>
              <a:rPr lang="en-US" sz="1500" dirty="0">
                <a:solidFill>
                  <a:srgbClr val="4A4A45"/>
                </a:solidFill>
                <a:latin typeface="Lato" pitchFamily="34" charset="0"/>
                <a:ea typeface="Lato" pitchFamily="34" charset="-122"/>
                <a:cs typeface="Lato" pitchFamily="34" charset="-120"/>
              </a:rPr>
              <a:t>+ 10k CWGAN-GP synthetic images</a:t>
            </a:r>
            <a:endParaRPr lang="en-US" sz="1500" dirty="0"/>
          </a:p>
        </p:txBody>
      </p:sp>
      <p:sp>
        <p:nvSpPr>
          <p:cNvPr id="18" name="Text 16"/>
          <p:cNvSpPr/>
          <p:nvPr/>
        </p:nvSpPr>
        <p:spPr>
          <a:xfrm>
            <a:off x="9931003" y="3861197"/>
            <a:ext cx="3243620" cy="306467"/>
          </a:xfrm>
          <a:prstGeom prst="rect">
            <a:avLst/>
          </a:prstGeom>
          <a:noFill/>
          <a:ln/>
        </p:spPr>
        <p:txBody>
          <a:bodyPr wrap="none" lIns="0" tIns="0" rIns="0" bIns="0" rtlCol="0" anchor="t"/>
          <a:lstStyle/>
          <a:p>
            <a:pPr marL="0" indent="0" algn="l">
              <a:lnSpc>
                <a:spcPts val="2400"/>
              </a:lnSpc>
              <a:buNone/>
            </a:pPr>
            <a:r>
              <a:rPr lang="en-US" sz="1500" dirty="0">
                <a:solidFill>
                  <a:srgbClr val="4A4A45"/>
                </a:solidFill>
                <a:latin typeface="Lato" pitchFamily="34" charset="0"/>
                <a:ea typeface="Lato" pitchFamily="34" charset="-122"/>
                <a:cs typeface="Lato" pitchFamily="34" charset="-120"/>
              </a:rPr>
              <a:t>99.92%</a:t>
            </a:r>
            <a:endParaRPr lang="en-US" sz="1500" dirty="0"/>
          </a:p>
        </p:txBody>
      </p:sp>
      <p:sp>
        <p:nvSpPr>
          <p:cNvPr id="19" name="Shape 17"/>
          <p:cNvSpPr/>
          <p:nvPr/>
        </p:nvSpPr>
        <p:spPr>
          <a:xfrm>
            <a:off x="1264206" y="4290179"/>
            <a:ext cx="12101989" cy="551498"/>
          </a:xfrm>
          <a:prstGeom prst="rect">
            <a:avLst/>
          </a:prstGeom>
          <a:solidFill>
            <a:srgbClr val="000000">
              <a:alpha val="4000"/>
            </a:srgbClr>
          </a:solidFill>
          <a:ln/>
        </p:spPr>
        <p:txBody>
          <a:bodyPr/>
          <a:lstStyle/>
          <a:p>
            <a:endParaRPr lang="en-US"/>
          </a:p>
        </p:txBody>
      </p:sp>
      <p:sp>
        <p:nvSpPr>
          <p:cNvPr id="20" name="Text 18"/>
          <p:cNvSpPr/>
          <p:nvPr/>
        </p:nvSpPr>
        <p:spPr>
          <a:xfrm>
            <a:off x="1455896" y="4412694"/>
            <a:ext cx="8084344" cy="306467"/>
          </a:xfrm>
          <a:prstGeom prst="rect">
            <a:avLst/>
          </a:prstGeom>
          <a:noFill/>
          <a:ln/>
        </p:spPr>
        <p:txBody>
          <a:bodyPr wrap="none" lIns="0" tIns="0" rIns="0" bIns="0" rtlCol="0" anchor="t"/>
          <a:lstStyle/>
          <a:p>
            <a:pPr marL="0" indent="0" algn="l">
              <a:lnSpc>
                <a:spcPts val="2400"/>
              </a:lnSpc>
              <a:buNone/>
            </a:pPr>
            <a:r>
              <a:rPr lang="en-US" sz="1500" b="1" dirty="0">
                <a:solidFill>
                  <a:srgbClr val="4A4A45"/>
                </a:solidFill>
                <a:latin typeface="Lato" pitchFamily="34" charset="0"/>
                <a:ea typeface="Lato" pitchFamily="34" charset="-122"/>
                <a:cs typeface="Lato" pitchFamily="34" charset="-120"/>
              </a:rPr>
              <a:t>+ 10k ACWGAN-GP synthetic images</a:t>
            </a:r>
            <a:endParaRPr lang="en-US" sz="1500" dirty="0"/>
          </a:p>
        </p:txBody>
      </p:sp>
      <p:sp>
        <p:nvSpPr>
          <p:cNvPr id="21" name="Text 19"/>
          <p:cNvSpPr/>
          <p:nvPr/>
        </p:nvSpPr>
        <p:spPr>
          <a:xfrm>
            <a:off x="9931003" y="4412694"/>
            <a:ext cx="3243620" cy="306467"/>
          </a:xfrm>
          <a:prstGeom prst="rect">
            <a:avLst/>
          </a:prstGeom>
          <a:noFill/>
          <a:ln/>
        </p:spPr>
        <p:txBody>
          <a:bodyPr wrap="none" lIns="0" tIns="0" rIns="0" bIns="0" rtlCol="0" anchor="t"/>
          <a:lstStyle/>
          <a:p>
            <a:pPr marL="0" indent="0" algn="l">
              <a:lnSpc>
                <a:spcPts val="2400"/>
              </a:lnSpc>
              <a:buNone/>
            </a:pPr>
            <a:r>
              <a:rPr lang="en-US" sz="1500" b="1" dirty="0">
                <a:solidFill>
                  <a:srgbClr val="4A4A45"/>
                </a:solidFill>
                <a:latin typeface="Lato" pitchFamily="34" charset="0"/>
                <a:ea typeface="Lato" pitchFamily="34" charset="-122"/>
                <a:cs typeface="Lato" pitchFamily="34" charset="-120"/>
              </a:rPr>
              <a:t>100% ✓✓✓</a:t>
            </a:r>
            <a:endParaRPr lang="en-US" sz="1500" dirty="0"/>
          </a:p>
        </p:txBody>
      </p:sp>
      <p:sp>
        <p:nvSpPr>
          <p:cNvPr id="22" name="Shape 20"/>
          <p:cNvSpPr/>
          <p:nvPr/>
        </p:nvSpPr>
        <p:spPr>
          <a:xfrm>
            <a:off x="1264206" y="4841677"/>
            <a:ext cx="12101989" cy="551498"/>
          </a:xfrm>
          <a:prstGeom prst="rect">
            <a:avLst/>
          </a:prstGeom>
          <a:solidFill>
            <a:srgbClr val="FFFFFF">
              <a:alpha val="4000"/>
            </a:srgbClr>
          </a:solidFill>
          <a:ln/>
        </p:spPr>
        <p:txBody>
          <a:bodyPr/>
          <a:lstStyle/>
          <a:p>
            <a:endParaRPr lang="en-US"/>
          </a:p>
        </p:txBody>
      </p:sp>
      <p:sp>
        <p:nvSpPr>
          <p:cNvPr id="23" name="Text 21"/>
          <p:cNvSpPr/>
          <p:nvPr/>
        </p:nvSpPr>
        <p:spPr>
          <a:xfrm>
            <a:off x="1455896" y="4964192"/>
            <a:ext cx="8084344" cy="306467"/>
          </a:xfrm>
          <a:prstGeom prst="rect">
            <a:avLst/>
          </a:prstGeom>
          <a:noFill/>
          <a:ln/>
        </p:spPr>
        <p:txBody>
          <a:bodyPr wrap="none" lIns="0" tIns="0" rIns="0" bIns="0" rtlCol="0" anchor="t"/>
          <a:lstStyle/>
          <a:p>
            <a:pPr marL="0" indent="0" algn="l">
              <a:lnSpc>
                <a:spcPts val="2400"/>
              </a:lnSpc>
              <a:buNone/>
            </a:pPr>
            <a:r>
              <a:rPr lang="en-US" sz="1500" b="1" dirty="0">
                <a:solidFill>
                  <a:srgbClr val="4A4A45"/>
                </a:solidFill>
                <a:latin typeface="Lato" pitchFamily="34" charset="0"/>
                <a:ea typeface="Lato" pitchFamily="34" charset="-122"/>
                <a:cs typeface="Lato" pitchFamily="34" charset="-120"/>
              </a:rPr>
              <a:t>+ 10k (CGAN+CWGAN-GP+ACWGAN-GP)</a:t>
            </a:r>
            <a:endParaRPr lang="en-US" sz="1500" dirty="0"/>
          </a:p>
        </p:txBody>
      </p:sp>
      <p:sp>
        <p:nvSpPr>
          <p:cNvPr id="24" name="Text 22"/>
          <p:cNvSpPr/>
          <p:nvPr/>
        </p:nvSpPr>
        <p:spPr>
          <a:xfrm>
            <a:off x="9931003" y="4964192"/>
            <a:ext cx="3243620" cy="306467"/>
          </a:xfrm>
          <a:prstGeom prst="rect">
            <a:avLst/>
          </a:prstGeom>
          <a:noFill/>
          <a:ln/>
        </p:spPr>
        <p:txBody>
          <a:bodyPr wrap="none" lIns="0" tIns="0" rIns="0" bIns="0" rtlCol="0" anchor="t"/>
          <a:lstStyle/>
          <a:p>
            <a:pPr marL="0" indent="0" algn="l">
              <a:lnSpc>
                <a:spcPts val="2400"/>
              </a:lnSpc>
              <a:buNone/>
            </a:pPr>
            <a:r>
              <a:rPr lang="en-US" sz="1500" b="1" dirty="0">
                <a:solidFill>
                  <a:srgbClr val="4A4A45"/>
                </a:solidFill>
                <a:latin typeface="Lato" pitchFamily="34" charset="0"/>
                <a:ea typeface="Lato" pitchFamily="34" charset="-122"/>
                <a:cs typeface="Lato" pitchFamily="34" charset="-120"/>
              </a:rPr>
              <a:t>100% ✓✓✓</a:t>
            </a:r>
            <a:endParaRPr lang="en-US" sz="1500" dirty="0"/>
          </a:p>
        </p:txBody>
      </p:sp>
      <p:sp>
        <p:nvSpPr>
          <p:cNvPr id="25" name="Text 23"/>
          <p:cNvSpPr/>
          <p:nvPr/>
        </p:nvSpPr>
        <p:spPr>
          <a:xfrm>
            <a:off x="1256586" y="5688092"/>
            <a:ext cx="2394704" cy="299204"/>
          </a:xfrm>
          <a:prstGeom prst="rect">
            <a:avLst/>
          </a:prstGeom>
          <a:noFill/>
          <a:ln/>
        </p:spPr>
        <p:txBody>
          <a:bodyPr wrap="none" lIns="0" tIns="0" rIns="0" bIns="0" rtlCol="0" anchor="t"/>
          <a:lstStyle/>
          <a:p>
            <a:pPr marL="0" indent="0" algn="l">
              <a:lnSpc>
                <a:spcPts val="2350"/>
              </a:lnSpc>
              <a:buNone/>
            </a:pPr>
            <a:r>
              <a:rPr lang="en-US" sz="1850" b="1" dirty="0">
                <a:solidFill>
                  <a:srgbClr val="282824"/>
                </a:solidFill>
                <a:latin typeface="Lato Bold" pitchFamily="34" charset="0"/>
                <a:ea typeface="Lato Bold" pitchFamily="34" charset="-122"/>
                <a:cs typeface="Lato Bold" pitchFamily="34" charset="-120"/>
              </a:rPr>
              <a:t>Key Findings:</a:t>
            </a:r>
            <a:endParaRPr lang="en-US" sz="1850" dirty="0"/>
          </a:p>
        </p:txBody>
      </p:sp>
      <p:sp>
        <p:nvSpPr>
          <p:cNvPr id="26" name="Text 24"/>
          <p:cNvSpPr/>
          <p:nvPr/>
        </p:nvSpPr>
        <p:spPr>
          <a:xfrm>
            <a:off x="1256586" y="6274594"/>
            <a:ext cx="12117229"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4A4A45"/>
                </a:solidFill>
                <a:latin typeface="Lato" pitchFamily="34" charset="0"/>
                <a:ea typeface="Lato" pitchFamily="34" charset="-122"/>
                <a:cs typeface="Lato" pitchFamily="34" charset="-120"/>
              </a:rPr>
              <a:t>Baseline (no synthetic) was already very high (99.95%).</a:t>
            </a:r>
            <a:endParaRPr lang="en-US" sz="1500" dirty="0"/>
          </a:p>
        </p:txBody>
      </p:sp>
      <p:sp>
        <p:nvSpPr>
          <p:cNvPr id="27" name="Text 25"/>
          <p:cNvSpPr/>
          <p:nvPr/>
        </p:nvSpPr>
        <p:spPr>
          <a:xfrm>
            <a:off x="1256586" y="6648093"/>
            <a:ext cx="12117229"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4A4A45"/>
                </a:solidFill>
                <a:latin typeface="Lato" pitchFamily="34" charset="0"/>
                <a:ea typeface="Lato" pitchFamily="34" charset="-122"/>
                <a:cs typeface="Lato" pitchFamily="34" charset="-120"/>
              </a:rPr>
              <a:t>CGAN synthetic </a:t>
            </a:r>
            <a:r>
              <a:rPr lang="en-US" sz="1500" b="1" dirty="0">
                <a:solidFill>
                  <a:srgbClr val="4A4A45"/>
                </a:solidFill>
                <a:latin typeface="Lato" pitchFamily="34" charset="0"/>
                <a:ea typeface="Lato" pitchFamily="34" charset="-122"/>
                <a:cs typeface="Lato" pitchFamily="34" charset="-120"/>
              </a:rPr>
              <a:t>hurt performance</a:t>
            </a:r>
            <a:r>
              <a:rPr lang="en-US" sz="1500" dirty="0">
                <a:solidFill>
                  <a:srgbClr val="4A4A45"/>
                </a:solidFill>
                <a:latin typeface="Lato" pitchFamily="34" charset="0"/>
                <a:ea typeface="Lato" pitchFamily="34" charset="-122"/>
                <a:cs typeface="Lato" pitchFamily="34" charset="-120"/>
              </a:rPr>
              <a:t> due to mode collapse and low-quality images.</a:t>
            </a:r>
            <a:endParaRPr lang="en-US" sz="1500" dirty="0"/>
          </a:p>
        </p:txBody>
      </p:sp>
      <p:sp>
        <p:nvSpPr>
          <p:cNvPr id="28" name="Text 26"/>
          <p:cNvSpPr/>
          <p:nvPr/>
        </p:nvSpPr>
        <p:spPr>
          <a:xfrm>
            <a:off x="1256586" y="7021592"/>
            <a:ext cx="12117229"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4A4A45"/>
                </a:solidFill>
                <a:latin typeface="Lato" pitchFamily="34" charset="0"/>
                <a:ea typeface="Lato" pitchFamily="34" charset="-122"/>
                <a:cs typeface="Lato" pitchFamily="34" charset="-120"/>
              </a:rPr>
              <a:t>ACWGAN-GP synthetic alone achieved </a:t>
            </a:r>
            <a:r>
              <a:rPr lang="en-US" sz="1500" b="1" dirty="0">
                <a:solidFill>
                  <a:srgbClr val="4A4A45"/>
                </a:solidFill>
                <a:latin typeface="Lato" pitchFamily="34" charset="0"/>
                <a:ea typeface="Lato" pitchFamily="34" charset="-122"/>
                <a:cs typeface="Lato" pitchFamily="34" charset="-120"/>
              </a:rPr>
              <a:t>100%</a:t>
            </a:r>
            <a:r>
              <a:rPr lang="en-US" sz="1500" dirty="0">
                <a:solidFill>
                  <a:srgbClr val="4A4A45"/>
                </a:solidFill>
                <a:latin typeface="Lato" pitchFamily="34" charset="0"/>
                <a:ea typeface="Lato" pitchFamily="34" charset="-122"/>
                <a:cs typeface="Lato" pitchFamily="34" charset="-120"/>
              </a:rPr>
              <a:t> accuracy due to class-faithful and diverse generation.</a:t>
            </a:r>
            <a:endParaRPr lang="en-US" sz="1500" dirty="0"/>
          </a:p>
        </p:txBody>
      </p:sp>
      <p:sp>
        <p:nvSpPr>
          <p:cNvPr id="29" name="Text 27"/>
          <p:cNvSpPr/>
          <p:nvPr/>
        </p:nvSpPr>
        <p:spPr>
          <a:xfrm>
            <a:off x="1256586" y="7395091"/>
            <a:ext cx="12117229" cy="3064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4A4A45"/>
                </a:solidFill>
                <a:latin typeface="Lato" pitchFamily="34" charset="0"/>
                <a:ea typeface="Lato" pitchFamily="34" charset="-122"/>
                <a:cs typeface="Lato" pitchFamily="34" charset="-120"/>
              </a:rPr>
              <a:t>Combining all three GAN types also reached </a:t>
            </a:r>
            <a:r>
              <a:rPr lang="en-US" sz="1500" b="1" dirty="0">
                <a:solidFill>
                  <a:srgbClr val="4A4A45"/>
                </a:solidFill>
                <a:latin typeface="Lato" pitchFamily="34" charset="0"/>
                <a:ea typeface="Lato" pitchFamily="34" charset="-122"/>
                <a:cs typeface="Lato" pitchFamily="34" charset="-120"/>
              </a:rPr>
              <a:t>100%</a:t>
            </a:r>
            <a:r>
              <a:rPr lang="en-US" sz="1500" dirty="0">
                <a:solidFill>
                  <a:srgbClr val="4A4A45"/>
                </a:solidFill>
                <a:latin typeface="Lato" pitchFamily="34" charset="0"/>
                <a:ea typeface="Lato" pitchFamily="34" charset="-122"/>
                <a:cs typeface="Lato" pitchFamily="34" charset="-120"/>
              </a:rPr>
              <a:t>, suggesting benefits from diverse synthetic sources.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08553"/>
            <a:ext cx="10570964" cy="708779"/>
          </a:xfrm>
          <a:prstGeom prst="rect">
            <a:avLst/>
          </a:prstGeom>
          <a:noFill/>
          <a:ln/>
        </p:spPr>
        <p:txBody>
          <a:bodyPr wrap="non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Critical Gaps &amp; Limitations of the Baseline</a:t>
            </a:r>
            <a:endParaRPr lang="en-US" sz="4450" dirty="0"/>
          </a:p>
        </p:txBody>
      </p:sp>
      <p:sp>
        <p:nvSpPr>
          <p:cNvPr id="3" name="Text 1"/>
          <p:cNvSpPr/>
          <p:nvPr/>
        </p:nvSpPr>
        <p:spPr>
          <a:xfrm>
            <a:off x="793790" y="2084308"/>
            <a:ext cx="4750237"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Limitation 1: No Baseline Comparison</a:t>
            </a:r>
            <a:endParaRPr lang="en-US" sz="2200" dirty="0"/>
          </a:p>
        </p:txBody>
      </p:sp>
      <p:sp>
        <p:nvSpPr>
          <p:cNvPr id="4" name="Text 2"/>
          <p:cNvSpPr/>
          <p:nvPr/>
        </p:nvSpPr>
        <p:spPr>
          <a:xfrm>
            <a:off x="7599521" y="2084308"/>
            <a:ext cx="4672846"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Limitation 2: Binary Freshness Labels</a:t>
            </a:r>
            <a:endParaRPr lang="en-US" sz="2200" dirty="0"/>
          </a:p>
        </p:txBody>
      </p:sp>
      <p:sp>
        <p:nvSpPr>
          <p:cNvPr id="5" name="Shape 3"/>
          <p:cNvSpPr/>
          <p:nvPr/>
        </p:nvSpPr>
        <p:spPr>
          <a:xfrm>
            <a:off x="793790" y="3260765"/>
            <a:ext cx="4196358" cy="1187172"/>
          </a:xfrm>
          <a:prstGeom prst="roundRect">
            <a:avLst>
              <a:gd name="adj" fmla="val 12324"/>
            </a:avLst>
          </a:prstGeom>
          <a:solidFill>
            <a:srgbClr val="EFECE6"/>
          </a:solidFill>
          <a:ln/>
        </p:spPr>
        <p:txBody>
          <a:bodyPr/>
          <a:lstStyle/>
          <a:p>
            <a:endParaRPr lang="en-US"/>
          </a:p>
        </p:txBody>
      </p:sp>
      <p:sp>
        <p:nvSpPr>
          <p:cNvPr id="6" name="Shape 4"/>
          <p:cNvSpPr/>
          <p:nvPr/>
        </p:nvSpPr>
        <p:spPr>
          <a:xfrm>
            <a:off x="793790" y="3230285"/>
            <a:ext cx="4196358" cy="121920"/>
          </a:xfrm>
          <a:prstGeom prst="roundRect">
            <a:avLst>
              <a:gd name="adj" fmla="val 27907"/>
            </a:avLst>
          </a:prstGeom>
          <a:solidFill>
            <a:srgbClr val="282824"/>
          </a:solidFill>
          <a:ln/>
        </p:spPr>
        <p:txBody>
          <a:bodyPr/>
          <a:lstStyle/>
          <a:p>
            <a:endParaRPr lang="en-US"/>
          </a:p>
        </p:txBody>
      </p:sp>
      <p:sp>
        <p:nvSpPr>
          <p:cNvPr id="7" name="Shape 5"/>
          <p:cNvSpPr/>
          <p:nvPr/>
        </p:nvSpPr>
        <p:spPr>
          <a:xfrm>
            <a:off x="2551688" y="2920603"/>
            <a:ext cx="680442" cy="680442"/>
          </a:xfrm>
          <a:prstGeom prst="roundRect">
            <a:avLst>
              <a:gd name="adj" fmla="val 134383"/>
            </a:avLst>
          </a:prstGeom>
          <a:solidFill>
            <a:srgbClr val="282824"/>
          </a:solidFill>
          <a:ln/>
        </p:spPr>
        <p:txBody>
          <a:bodyPr/>
          <a:lstStyle/>
          <a:p>
            <a:endParaRPr lang="en-US"/>
          </a:p>
        </p:txBody>
      </p:sp>
      <p:sp>
        <p:nvSpPr>
          <p:cNvPr id="8" name="Text 6"/>
          <p:cNvSpPr/>
          <p:nvPr/>
        </p:nvSpPr>
        <p:spPr>
          <a:xfrm>
            <a:off x="2755761" y="3090743"/>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Lato Bold" pitchFamily="34" charset="0"/>
                <a:ea typeface="Lato Bold" pitchFamily="34" charset="-122"/>
                <a:cs typeface="Lato Bold" pitchFamily="34" charset="-120"/>
              </a:rPr>
              <a:t>1</a:t>
            </a:r>
            <a:endParaRPr lang="en-US" sz="2100" dirty="0"/>
          </a:p>
        </p:txBody>
      </p:sp>
      <p:sp>
        <p:nvSpPr>
          <p:cNvPr id="9" name="Text 7"/>
          <p:cNvSpPr/>
          <p:nvPr/>
        </p:nvSpPr>
        <p:spPr>
          <a:xfrm>
            <a:off x="1051084" y="3827740"/>
            <a:ext cx="3681770"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Day 0: Very Fresh (L1)</a:t>
            </a:r>
            <a:endParaRPr lang="en-US" sz="1750" dirty="0"/>
          </a:p>
        </p:txBody>
      </p:sp>
      <p:sp>
        <p:nvSpPr>
          <p:cNvPr id="10" name="Shape 8"/>
          <p:cNvSpPr/>
          <p:nvPr/>
        </p:nvSpPr>
        <p:spPr>
          <a:xfrm>
            <a:off x="5216962" y="3260765"/>
            <a:ext cx="4196358" cy="1187172"/>
          </a:xfrm>
          <a:prstGeom prst="roundRect">
            <a:avLst>
              <a:gd name="adj" fmla="val 12324"/>
            </a:avLst>
          </a:prstGeom>
          <a:solidFill>
            <a:srgbClr val="EFECE6"/>
          </a:solidFill>
          <a:ln/>
        </p:spPr>
        <p:txBody>
          <a:bodyPr/>
          <a:lstStyle/>
          <a:p>
            <a:endParaRPr lang="en-US"/>
          </a:p>
        </p:txBody>
      </p:sp>
      <p:sp>
        <p:nvSpPr>
          <p:cNvPr id="11" name="Shape 9"/>
          <p:cNvSpPr/>
          <p:nvPr/>
        </p:nvSpPr>
        <p:spPr>
          <a:xfrm>
            <a:off x="5216962" y="3230285"/>
            <a:ext cx="4196358" cy="121920"/>
          </a:xfrm>
          <a:prstGeom prst="roundRect">
            <a:avLst>
              <a:gd name="adj" fmla="val 27907"/>
            </a:avLst>
          </a:prstGeom>
          <a:solidFill>
            <a:srgbClr val="282824"/>
          </a:solidFill>
          <a:ln/>
        </p:spPr>
        <p:txBody>
          <a:bodyPr/>
          <a:lstStyle/>
          <a:p>
            <a:endParaRPr lang="en-US"/>
          </a:p>
        </p:txBody>
      </p:sp>
      <p:sp>
        <p:nvSpPr>
          <p:cNvPr id="12" name="Shape 10"/>
          <p:cNvSpPr/>
          <p:nvPr/>
        </p:nvSpPr>
        <p:spPr>
          <a:xfrm>
            <a:off x="6974860" y="2920603"/>
            <a:ext cx="680442" cy="680442"/>
          </a:xfrm>
          <a:prstGeom prst="roundRect">
            <a:avLst>
              <a:gd name="adj" fmla="val 134383"/>
            </a:avLst>
          </a:prstGeom>
          <a:solidFill>
            <a:srgbClr val="282824"/>
          </a:solidFill>
          <a:ln/>
        </p:spPr>
        <p:txBody>
          <a:bodyPr/>
          <a:lstStyle/>
          <a:p>
            <a:endParaRPr lang="en-US"/>
          </a:p>
        </p:txBody>
      </p:sp>
      <p:sp>
        <p:nvSpPr>
          <p:cNvPr id="13" name="Text 11"/>
          <p:cNvSpPr/>
          <p:nvPr/>
        </p:nvSpPr>
        <p:spPr>
          <a:xfrm>
            <a:off x="7178933" y="3090743"/>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Lato Bold" pitchFamily="34" charset="0"/>
                <a:ea typeface="Lato Bold" pitchFamily="34" charset="-122"/>
                <a:cs typeface="Lato Bold" pitchFamily="34" charset="-120"/>
              </a:rPr>
              <a:t>2</a:t>
            </a:r>
            <a:endParaRPr lang="en-US" sz="2100" dirty="0"/>
          </a:p>
        </p:txBody>
      </p:sp>
      <p:sp>
        <p:nvSpPr>
          <p:cNvPr id="14" name="Text 12"/>
          <p:cNvSpPr/>
          <p:nvPr/>
        </p:nvSpPr>
        <p:spPr>
          <a:xfrm>
            <a:off x="5474256" y="3827740"/>
            <a:ext cx="3681770"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Day 1-2: Fresh (L2)</a:t>
            </a:r>
            <a:endParaRPr lang="en-US" sz="1750" dirty="0"/>
          </a:p>
        </p:txBody>
      </p:sp>
      <p:sp>
        <p:nvSpPr>
          <p:cNvPr id="15" name="Shape 13"/>
          <p:cNvSpPr/>
          <p:nvPr/>
        </p:nvSpPr>
        <p:spPr>
          <a:xfrm>
            <a:off x="9640133" y="3260765"/>
            <a:ext cx="4196358" cy="1187172"/>
          </a:xfrm>
          <a:prstGeom prst="roundRect">
            <a:avLst>
              <a:gd name="adj" fmla="val 12324"/>
            </a:avLst>
          </a:prstGeom>
          <a:solidFill>
            <a:srgbClr val="EFECE6"/>
          </a:solidFill>
          <a:ln/>
        </p:spPr>
        <p:txBody>
          <a:bodyPr/>
          <a:lstStyle/>
          <a:p>
            <a:endParaRPr lang="en-US"/>
          </a:p>
        </p:txBody>
      </p:sp>
      <p:sp>
        <p:nvSpPr>
          <p:cNvPr id="16" name="Shape 14"/>
          <p:cNvSpPr/>
          <p:nvPr/>
        </p:nvSpPr>
        <p:spPr>
          <a:xfrm>
            <a:off x="9640133" y="3230285"/>
            <a:ext cx="4196358" cy="121920"/>
          </a:xfrm>
          <a:prstGeom prst="roundRect">
            <a:avLst>
              <a:gd name="adj" fmla="val 27907"/>
            </a:avLst>
          </a:prstGeom>
          <a:solidFill>
            <a:srgbClr val="282824"/>
          </a:solidFill>
          <a:ln/>
        </p:spPr>
        <p:txBody>
          <a:bodyPr/>
          <a:lstStyle/>
          <a:p>
            <a:endParaRPr lang="en-US"/>
          </a:p>
        </p:txBody>
      </p:sp>
      <p:sp>
        <p:nvSpPr>
          <p:cNvPr id="17" name="Shape 15"/>
          <p:cNvSpPr/>
          <p:nvPr/>
        </p:nvSpPr>
        <p:spPr>
          <a:xfrm>
            <a:off x="11398032" y="2920603"/>
            <a:ext cx="680442" cy="680442"/>
          </a:xfrm>
          <a:prstGeom prst="roundRect">
            <a:avLst>
              <a:gd name="adj" fmla="val 134383"/>
            </a:avLst>
          </a:prstGeom>
          <a:solidFill>
            <a:srgbClr val="282824"/>
          </a:solidFill>
          <a:ln/>
        </p:spPr>
        <p:txBody>
          <a:bodyPr/>
          <a:lstStyle/>
          <a:p>
            <a:endParaRPr lang="en-US"/>
          </a:p>
        </p:txBody>
      </p:sp>
      <p:sp>
        <p:nvSpPr>
          <p:cNvPr id="18" name="Text 16"/>
          <p:cNvSpPr/>
          <p:nvPr/>
        </p:nvSpPr>
        <p:spPr>
          <a:xfrm>
            <a:off x="11602105" y="3090743"/>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Lato Bold" pitchFamily="34" charset="0"/>
                <a:ea typeface="Lato Bold" pitchFamily="34" charset="-122"/>
                <a:cs typeface="Lato Bold" pitchFamily="34" charset="-120"/>
              </a:rPr>
              <a:t>3</a:t>
            </a:r>
            <a:endParaRPr lang="en-US" sz="2100" dirty="0"/>
          </a:p>
        </p:txBody>
      </p:sp>
      <p:sp>
        <p:nvSpPr>
          <p:cNvPr id="19" name="Text 17"/>
          <p:cNvSpPr/>
          <p:nvPr/>
        </p:nvSpPr>
        <p:spPr>
          <a:xfrm>
            <a:off x="9897427" y="3827740"/>
            <a:ext cx="3681770"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Day 3-5: Slightly Stale (L3)</a:t>
            </a:r>
            <a:endParaRPr lang="en-US" sz="1750" dirty="0"/>
          </a:p>
        </p:txBody>
      </p:sp>
      <p:sp>
        <p:nvSpPr>
          <p:cNvPr id="20" name="Shape 18"/>
          <p:cNvSpPr/>
          <p:nvPr/>
        </p:nvSpPr>
        <p:spPr>
          <a:xfrm>
            <a:off x="793790" y="5014913"/>
            <a:ext cx="6407944" cy="1187172"/>
          </a:xfrm>
          <a:prstGeom prst="roundRect">
            <a:avLst>
              <a:gd name="adj" fmla="val 12324"/>
            </a:avLst>
          </a:prstGeom>
          <a:solidFill>
            <a:srgbClr val="EFECE6"/>
          </a:solidFill>
          <a:ln/>
        </p:spPr>
        <p:txBody>
          <a:bodyPr/>
          <a:lstStyle/>
          <a:p>
            <a:endParaRPr lang="en-US"/>
          </a:p>
        </p:txBody>
      </p:sp>
      <p:sp>
        <p:nvSpPr>
          <p:cNvPr id="21" name="Shape 19"/>
          <p:cNvSpPr/>
          <p:nvPr/>
        </p:nvSpPr>
        <p:spPr>
          <a:xfrm>
            <a:off x="793790" y="4984432"/>
            <a:ext cx="6407944" cy="121920"/>
          </a:xfrm>
          <a:prstGeom prst="roundRect">
            <a:avLst>
              <a:gd name="adj" fmla="val 27907"/>
            </a:avLst>
          </a:prstGeom>
          <a:solidFill>
            <a:srgbClr val="282824"/>
          </a:solidFill>
          <a:ln/>
        </p:spPr>
        <p:txBody>
          <a:bodyPr/>
          <a:lstStyle/>
          <a:p>
            <a:endParaRPr lang="en-US"/>
          </a:p>
        </p:txBody>
      </p:sp>
      <p:sp>
        <p:nvSpPr>
          <p:cNvPr id="22" name="Shape 20"/>
          <p:cNvSpPr/>
          <p:nvPr/>
        </p:nvSpPr>
        <p:spPr>
          <a:xfrm>
            <a:off x="3657540" y="4674751"/>
            <a:ext cx="680442" cy="680442"/>
          </a:xfrm>
          <a:prstGeom prst="roundRect">
            <a:avLst>
              <a:gd name="adj" fmla="val 134383"/>
            </a:avLst>
          </a:prstGeom>
          <a:solidFill>
            <a:srgbClr val="282824"/>
          </a:solidFill>
          <a:ln/>
        </p:spPr>
        <p:txBody>
          <a:bodyPr/>
          <a:lstStyle/>
          <a:p>
            <a:endParaRPr lang="en-US"/>
          </a:p>
        </p:txBody>
      </p:sp>
      <p:sp>
        <p:nvSpPr>
          <p:cNvPr id="23" name="Text 21"/>
          <p:cNvSpPr/>
          <p:nvPr/>
        </p:nvSpPr>
        <p:spPr>
          <a:xfrm>
            <a:off x="3861614" y="4844891"/>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Lato Bold" pitchFamily="34" charset="0"/>
                <a:ea typeface="Lato Bold" pitchFamily="34" charset="-122"/>
                <a:cs typeface="Lato Bold" pitchFamily="34" charset="-120"/>
              </a:rPr>
              <a:t>4</a:t>
            </a:r>
            <a:endParaRPr lang="en-US" sz="2100" dirty="0"/>
          </a:p>
        </p:txBody>
      </p:sp>
      <p:sp>
        <p:nvSpPr>
          <p:cNvPr id="24" name="Text 22"/>
          <p:cNvSpPr/>
          <p:nvPr/>
        </p:nvSpPr>
        <p:spPr>
          <a:xfrm>
            <a:off x="1051084" y="5581888"/>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Day 6-10: Moderately Stale (L4)</a:t>
            </a:r>
            <a:endParaRPr lang="en-US" sz="1750" dirty="0"/>
          </a:p>
        </p:txBody>
      </p:sp>
      <p:sp>
        <p:nvSpPr>
          <p:cNvPr id="25" name="Shape 23"/>
          <p:cNvSpPr/>
          <p:nvPr/>
        </p:nvSpPr>
        <p:spPr>
          <a:xfrm>
            <a:off x="7428548" y="5014913"/>
            <a:ext cx="6407944" cy="1187172"/>
          </a:xfrm>
          <a:prstGeom prst="roundRect">
            <a:avLst>
              <a:gd name="adj" fmla="val 12324"/>
            </a:avLst>
          </a:prstGeom>
          <a:solidFill>
            <a:srgbClr val="EFECE6"/>
          </a:solidFill>
          <a:ln/>
        </p:spPr>
        <p:txBody>
          <a:bodyPr/>
          <a:lstStyle/>
          <a:p>
            <a:endParaRPr lang="en-US"/>
          </a:p>
        </p:txBody>
      </p:sp>
      <p:sp>
        <p:nvSpPr>
          <p:cNvPr id="26" name="Shape 24"/>
          <p:cNvSpPr/>
          <p:nvPr/>
        </p:nvSpPr>
        <p:spPr>
          <a:xfrm>
            <a:off x="7428548" y="4984432"/>
            <a:ext cx="6407944" cy="121920"/>
          </a:xfrm>
          <a:prstGeom prst="roundRect">
            <a:avLst>
              <a:gd name="adj" fmla="val 27907"/>
            </a:avLst>
          </a:prstGeom>
          <a:solidFill>
            <a:srgbClr val="282824"/>
          </a:solidFill>
          <a:ln/>
        </p:spPr>
        <p:txBody>
          <a:bodyPr/>
          <a:lstStyle/>
          <a:p>
            <a:endParaRPr lang="en-US"/>
          </a:p>
        </p:txBody>
      </p:sp>
      <p:sp>
        <p:nvSpPr>
          <p:cNvPr id="27" name="Shape 25"/>
          <p:cNvSpPr/>
          <p:nvPr/>
        </p:nvSpPr>
        <p:spPr>
          <a:xfrm>
            <a:off x="10292298" y="4674751"/>
            <a:ext cx="680442" cy="680442"/>
          </a:xfrm>
          <a:prstGeom prst="roundRect">
            <a:avLst>
              <a:gd name="adj" fmla="val 134383"/>
            </a:avLst>
          </a:prstGeom>
          <a:solidFill>
            <a:srgbClr val="282824"/>
          </a:solidFill>
          <a:ln/>
        </p:spPr>
        <p:txBody>
          <a:bodyPr/>
          <a:lstStyle/>
          <a:p>
            <a:endParaRPr lang="en-US"/>
          </a:p>
        </p:txBody>
      </p:sp>
      <p:sp>
        <p:nvSpPr>
          <p:cNvPr id="28" name="Text 26"/>
          <p:cNvSpPr/>
          <p:nvPr/>
        </p:nvSpPr>
        <p:spPr>
          <a:xfrm>
            <a:off x="10496371" y="4844891"/>
            <a:ext cx="272177" cy="340162"/>
          </a:xfrm>
          <a:prstGeom prst="rect">
            <a:avLst/>
          </a:prstGeom>
          <a:noFill/>
          <a:ln/>
        </p:spPr>
        <p:txBody>
          <a:bodyPr wrap="none" lIns="0" tIns="0" rIns="0" bIns="0" rtlCol="0" anchor="t"/>
          <a:lstStyle/>
          <a:p>
            <a:pPr marL="0" indent="0" algn="l">
              <a:lnSpc>
                <a:spcPts val="3400"/>
              </a:lnSpc>
              <a:buNone/>
            </a:pPr>
            <a:r>
              <a:rPr lang="en-US" sz="2100" b="1" dirty="0">
                <a:solidFill>
                  <a:srgbClr val="FFFFFF"/>
                </a:solidFill>
                <a:latin typeface="Lato Bold" pitchFamily="34" charset="0"/>
                <a:ea typeface="Lato Bold" pitchFamily="34" charset="-122"/>
                <a:cs typeface="Lato Bold" pitchFamily="34" charset="-120"/>
              </a:rPr>
              <a:t>5</a:t>
            </a:r>
            <a:endParaRPr lang="en-US" sz="2100" dirty="0"/>
          </a:p>
        </p:txBody>
      </p:sp>
      <p:sp>
        <p:nvSpPr>
          <p:cNvPr id="29" name="Text 27"/>
          <p:cNvSpPr/>
          <p:nvPr/>
        </p:nvSpPr>
        <p:spPr>
          <a:xfrm>
            <a:off x="7685842" y="5581888"/>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Day 11+: Stale (L5)</a:t>
            </a:r>
            <a:endParaRPr lang="en-US" sz="1750" dirty="0"/>
          </a:p>
        </p:txBody>
      </p:sp>
      <p:sp>
        <p:nvSpPr>
          <p:cNvPr id="30" name="Shape 28"/>
          <p:cNvSpPr/>
          <p:nvPr/>
        </p:nvSpPr>
        <p:spPr>
          <a:xfrm>
            <a:off x="793790" y="6457236"/>
            <a:ext cx="13042821" cy="963811"/>
          </a:xfrm>
          <a:prstGeom prst="roundRect">
            <a:avLst>
              <a:gd name="adj" fmla="val 3530"/>
            </a:avLst>
          </a:prstGeom>
          <a:solidFill>
            <a:srgbClr val="DBDBD7"/>
          </a:solidFill>
          <a:ln/>
        </p:spPr>
        <p:txBody>
          <a:bodyPr/>
          <a:lstStyle/>
          <a:p>
            <a:endParaRPr lang="en-US"/>
          </a:p>
        </p:txBody>
      </p:sp>
      <p:pic>
        <p:nvPicPr>
          <p:cNvPr id="31" name="Image 0" descr="preencoded.png"/>
          <p:cNvPicPr>
            <a:picLocks noChangeAspect="1"/>
          </p:cNvPicPr>
          <p:nvPr/>
        </p:nvPicPr>
        <p:blipFill>
          <a:blip r:embed="rId3"/>
          <a:stretch>
            <a:fillRect/>
          </a:stretch>
        </p:blipFill>
        <p:spPr>
          <a:xfrm>
            <a:off x="1020604" y="6808946"/>
            <a:ext cx="283488" cy="226814"/>
          </a:xfrm>
          <a:prstGeom prst="rect">
            <a:avLst/>
          </a:prstGeom>
        </p:spPr>
      </p:pic>
      <p:sp>
        <p:nvSpPr>
          <p:cNvPr id="32" name="Text 29"/>
          <p:cNvSpPr/>
          <p:nvPr/>
        </p:nvSpPr>
        <p:spPr>
          <a:xfrm>
            <a:off x="1530906" y="6740723"/>
            <a:ext cx="12078891" cy="362903"/>
          </a:xfrm>
          <a:prstGeom prst="rect">
            <a:avLst/>
          </a:prstGeom>
          <a:noFill/>
          <a:ln/>
        </p:spPr>
        <p:txBody>
          <a:bodyPr wrap="none" lIns="0" tIns="0" rIns="0" bIns="0" rtlCol="0" anchor="t"/>
          <a:lstStyle/>
          <a:p>
            <a:pPr marL="0" indent="0" algn="l">
              <a:lnSpc>
                <a:spcPts val="2850"/>
              </a:lnSpc>
              <a:buNone/>
            </a:pPr>
            <a:r>
              <a:rPr lang="en-US" sz="1750" b="1" dirty="0">
                <a:solidFill>
                  <a:srgbClr val="000000"/>
                </a:solidFill>
                <a:latin typeface="Lato" pitchFamily="34" charset="0"/>
                <a:ea typeface="Lato" pitchFamily="34" charset="-122"/>
                <a:cs typeface="Lato" pitchFamily="34" charset="-120"/>
              </a:rPr>
              <a:t>Supply Chain Impact:</a:t>
            </a:r>
            <a:r>
              <a:rPr lang="en-US" sz="1750" dirty="0">
                <a:solidFill>
                  <a:srgbClr val="000000"/>
                </a:solidFill>
                <a:latin typeface="Lato" pitchFamily="34" charset="0"/>
                <a:ea typeface="Lato" pitchFamily="34" charset="-122"/>
                <a:cs typeface="Lato" pitchFamily="34" charset="-120"/>
              </a:rPr>
              <a:t> Ordinal predictions (L1-L5) can yield 30-40% efficiency gains by optimizing inventory and marketing.</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972026"/>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Our Proposed Architecture: DANN-ViT + Ordinal Freshness Head</a:t>
            </a:r>
            <a:endParaRPr lang="en-US" sz="4450" dirty="0"/>
          </a:p>
        </p:txBody>
      </p:sp>
      <p:sp>
        <p:nvSpPr>
          <p:cNvPr id="3" name="Text 1"/>
          <p:cNvSpPr/>
          <p:nvPr/>
        </p:nvSpPr>
        <p:spPr>
          <a:xfrm>
            <a:off x="793790" y="2480310"/>
            <a:ext cx="5781318"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Core Philosophy: Domain-Invariant Freshness</a:t>
            </a:r>
            <a:endParaRPr lang="en-US" sz="2200" dirty="0"/>
          </a:p>
        </p:txBody>
      </p:sp>
      <p:pic>
        <p:nvPicPr>
          <p:cNvPr id="4" name="Image 0" descr="preencoded.png"/>
          <p:cNvPicPr>
            <a:picLocks noChangeAspect="1"/>
          </p:cNvPicPr>
          <p:nvPr/>
        </p:nvPicPr>
        <p:blipFill>
          <a:blip r:embed="rId3"/>
          <a:stretch>
            <a:fillRect/>
          </a:stretch>
        </p:blipFill>
        <p:spPr>
          <a:xfrm>
            <a:off x="793790" y="3174802"/>
            <a:ext cx="1134070" cy="1360884"/>
          </a:xfrm>
          <a:prstGeom prst="rect">
            <a:avLst/>
          </a:prstGeom>
        </p:spPr>
      </p:pic>
      <p:sp>
        <p:nvSpPr>
          <p:cNvPr id="5" name="Text 2"/>
          <p:cNvSpPr/>
          <p:nvPr/>
        </p:nvSpPr>
        <p:spPr>
          <a:xfrm>
            <a:off x="2154674" y="340161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Input Image</a:t>
            </a:r>
            <a:endParaRPr lang="en-US" sz="2200" dirty="0"/>
          </a:p>
        </p:txBody>
      </p:sp>
      <p:sp>
        <p:nvSpPr>
          <p:cNvPr id="6" name="Text 3"/>
          <p:cNvSpPr/>
          <p:nvPr/>
        </p:nvSpPr>
        <p:spPr>
          <a:xfrm>
            <a:off x="2154674" y="3892034"/>
            <a:ext cx="11681936"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RGB (100×100 or 224×224)</a:t>
            </a:r>
            <a:endParaRPr lang="en-US" sz="1750" dirty="0"/>
          </a:p>
        </p:txBody>
      </p:sp>
      <p:pic>
        <p:nvPicPr>
          <p:cNvPr id="7" name="Image 1" descr="preencoded.png"/>
          <p:cNvPicPr>
            <a:picLocks noChangeAspect="1"/>
          </p:cNvPicPr>
          <p:nvPr/>
        </p:nvPicPr>
        <p:blipFill>
          <a:blip r:embed="rId4"/>
          <a:stretch>
            <a:fillRect/>
          </a:stretch>
        </p:blipFill>
        <p:spPr>
          <a:xfrm>
            <a:off x="793790" y="4535686"/>
            <a:ext cx="1134070" cy="1360884"/>
          </a:xfrm>
          <a:prstGeom prst="rect">
            <a:avLst/>
          </a:prstGeom>
        </p:spPr>
      </p:pic>
      <p:sp>
        <p:nvSpPr>
          <p:cNvPr id="8" name="Text 4"/>
          <p:cNvSpPr/>
          <p:nvPr/>
        </p:nvSpPr>
        <p:spPr>
          <a:xfrm>
            <a:off x="2154674" y="4762500"/>
            <a:ext cx="3742611"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Vision Transformer Backbone</a:t>
            </a:r>
            <a:endParaRPr lang="en-US" sz="2200" dirty="0"/>
          </a:p>
        </p:txBody>
      </p:sp>
      <p:sp>
        <p:nvSpPr>
          <p:cNvPr id="9" name="Text 5"/>
          <p:cNvSpPr/>
          <p:nvPr/>
        </p:nvSpPr>
        <p:spPr>
          <a:xfrm>
            <a:off x="2154674" y="5252918"/>
            <a:ext cx="11681936"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DeiT-Small or ViT-Base, pre-trained on ImageNet. Extracts shared features.</a:t>
            </a:r>
            <a:endParaRPr lang="en-US" sz="1750" dirty="0"/>
          </a:p>
        </p:txBody>
      </p:sp>
      <p:pic>
        <p:nvPicPr>
          <p:cNvPr id="10" name="Image 2" descr="preencoded.png"/>
          <p:cNvPicPr>
            <a:picLocks noChangeAspect="1"/>
          </p:cNvPicPr>
          <p:nvPr/>
        </p:nvPicPr>
        <p:blipFill>
          <a:blip r:embed="rId5"/>
          <a:stretch>
            <a:fillRect/>
          </a:stretch>
        </p:blipFill>
        <p:spPr>
          <a:xfrm>
            <a:off x="793790" y="5896570"/>
            <a:ext cx="1134070" cy="1360884"/>
          </a:xfrm>
          <a:prstGeom prst="rect">
            <a:avLst/>
          </a:prstGeom>
        </p:spPr>
      </p:pic>
      <p:sp>
        <p:nvSpPr>
          <p:cNvPr id="11" name="Text 6"/>
          <p:cNvSpPr/>
          <p:nvPr/>
        </p:nvSpPr>
        <p:spPr>
          <a:xfrm>
            <a:off x="2154674" y="6123384"/>
            <a:ext cx="4209812"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Domain-Invariant Feature Vector</a:t>
            </a:r>
            <a:endParaRPr lang="en-US" sz="2200" dirty="0"/>
          </a:p>
        </p:txBody>
      </p:sp>
      <p:sp>
        <p:nvSpPr>
          <p:cNvPr id="12" name="Text 7"/>
          <p:cNvSpPr/>
          <p:nvPr/>
        </p:nvSpPr>
        <p:spPr>
          <a:xfrm>
            <a:off x="2154674" y="6613803"/>
            <a:ext cx="11681936"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f ∈ R^768 or R^1024. Shared by both heads for robust representation.</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44047" y="872728"/>
            <a:ext cx="11917799" cy="629483"/>
          </a:xfrm>
          <a:prstGeom prst="rect">
            <a:avLst/>
          </a:prstGeom>
          <a:noFill/>
          <a:ln/>
        </p:spPr>
        <p:txBody>
          <a:bodyPr wrap="none" lIns="0" tIns="0" rIns="0" bIns="0" rtlCol="0" anchor="t"/>
          <a:lstStyle/>
          <a:p>
            <a:pPr marL="0" indent="0" algn="l">
              <a:lnSpc>
                <a:spcPts val="4950"/>
              </a:lnSpc>
              <a:buNone/>
            </a:pPr>
            <a:r>
              <a:rPr lang="en-US" sz="3950" b="1" dirty="0">
                <a:solidFill>
                  <a:srgbClr val="282824"/>
                </a:solidFill>
                <a:latin typeface="Lato Bold" pitchFamily="34" charset="0"/>
                <a:ea typeface="Lato Bold" pitchFamily="34" charset="-122"/>
                <a:cs typeface="Lato Bold" pitchFamily="34" charset="-120"/>
              </a:rPr>
              <a:t>Dual Heads for Freshness and Domain Discrimination</a:t>
            </a:r>
            <a:endParaRPr lang="en-US" sz="3950" dirty="0"/>
          </a:p>
        </p:txBody>
      </p:sp>
      <p:sp>
        <p:nvSpPr>
          <p:cNvPr id="3" name="Shape 1"/>
          <p:cNvSpPr/>
          <p:nvPr/>
        </p:nvSpPr>
        <p:spPr>
          <a:xfrm>
            <a:off x="944047" y="2030968"/>
            <a:ext cx="6125289" cy="2452449"/>
          </a:xfrm>
          <a:prstGeom prst="roundRect">
            <a:avLst>
              <a:gd name="adj" fmla="val 1232"/>
            </a:avLst>
          </a:prstGeom>
          <a:solidFill>
            <a:srgbClr val="282824"/>
          </a:solidFill>
          <a:ln/>
        </p:spPr>
        <p:txBody>
          <a:bodyPr/>
          <a:lstStyle/>
          <a:p>
            <a:endParaRPr lang="en-US"/>
          </a:p>
        </p:txBody>
      </p:sp>
      <p:sp>
        <p:nvSpPr>
          <p:cNvPr id="4" name="Text 2"/>
          <p:cNvSpPr/>
          <p:nvPr/>
        </p:nvSpPr>
        <p:spPr>
          <a:xfrm>
            <a:off x="1145500" y="2232422"/>
            <a:ext cx="3757493" cy="377666"/>
          </a:xfrm>
          <a:prstGeom prst="rect">
            <a:avLst/>
          </a:prstGeom>
          <a:noFill/>
          <a:ln/>
        </p:spPr>
        <p:txBody>
          <a:bodyPr wrap="none" lIns="0" tIns="0" rIns="0" bIns="0" rtlCol="0" anchor="t"/>
          <a:lstStyle/>
          <a:p>
            <a:pPr marL="0" indent="0" algn="l">
              <a:lnSpc>
                <a:spcPts val="2950"/>
              </a:lnSpc>
              <a:buNone/>
            </a:pPr>
            <a:r>
              <a:rPr lang="en-US" sz="2350" b="1" dirty="0">
                <a:solidFill>
                  <a:srgbClr val="FFFFFF"/>
                </a:solidFill>
                <a:latin typeface="Lato Bold" pitchFamily="34" charset="0"/>
                <a:ea typeface="Lato Bold" pitchFamily="34" charset="-122"/>
                <a:cs typeface="Lato Bold" pitchFamily="34" charset="-120"/>
              </a:rPr>
              <a:t>Head 1: Freshness Classifier</a:t>
            </a:r>
            <a:endParaRPr lang="en-US" sz="2350" dirty="0"/>
          </a:p>
        </p:txBody>
      </p:sp>
      <p:sp>
        <p:nvSpPr>
          <p:cNvPr id="5" name="Text 3"/>
          <p:cNvSpPr/>
          <p:nvPr/>
        </p:nvSpPr>
        <p:spPr>
          <a:xfrm>
            <a:off x="1145500" y="2811542"/>
            <a:ext cx="5722382" cy="644604"/>
          </a:xfrm>
          <a:prstGeom prst="rect">
            <a:avLst/>
          </a:prstGeom>
          <a:noFill/>
          <a:ln/>
        </p:spPr>
        <p:txBody>
          <a:bodyPr wrap="square" lIns="0" tIns="0" rIns="0" bIns="0" rtlCol="0" anchor="t"/>
          <a:lstStyle/>
          <a:p>
            <a:pPr marL="0" indent="0" algn="l">
              <a:lnSpc>
                <a:spcPts val="2500"/>
              </a:lnSpc>
              <a:buNone/>
            </a:pPr>
            <a:r>
              <a:rPr lang="en-US" sz="1550" b="1" dirty="0">
                <a:solidFill>
                  <a:srgbClr val="FFFFFF"/>
                </a:solidFill>
                <a:latin typeface="Lato" pitchFamily="34" charset="0"/>
                <a:ea typeface="Lato" pitchFamily="34" charset="-122"/>
                <a:cs typeface="Lato" pitchFamily="34" charset="-120"/>
              </a:rPr>
              <a:t>Ordinal Regression:</a:t>
            </a:r>
            <a:r>
              <a:rPr lang="en-US" sz="1550" dirty="0">
                <a:solidFill>
                  <a:srgbClr val="FFFFFF"/>
                </a:solidFill>
                <a:latin typeface="Lato" pitchFamily="34" charset="0"/>
                <a:ea typeface="Lato" pitchFamily="34" charset="-122"/>
                <a:cs typeface="Lato" pitchFamily="34" charset="-120"/>
              </a:rPr>
              <a:t> Predicts 5 freshness levels (L1-L5) using a Cumulative Link Model.</a:t>
            </a:r>
            <a:endParaRPr lang="en-US" sz="1550" dirty="0"/>
          </a:p>
        </p:txBody>
      </p:sp>
      <p:sp>
        <p:nvSpPr>
          <p:cNvPr id="6" name="Text 4"/>
          <p:cNvSpPr/>
          <p:nvPr/>
        </p:nvSpPr>
        <p:spPr>
          <a:xfrm>
            <a:off x="1145500" y="3637359"/>
            <a:ext cx="5722382" cy="644604"/>
          </a:xfrm>
          <a:prstGeom prst="rect">
            <a:avLst/>
          </a:prstGeom>
          <a:noFill/>
          <a:ln/>
        </p:spPr>
        <p:txBody>
          <a:bodyPr wrap="square" lIns="0" tIns="0" rIns="0" bIns="0" rtlCol="0" anchor="t"/>
          <a:lstStyle/>
          <a:p>
            <a:pPr marL="0" indent="0" algn="l">
              <a:lnSpc>
                <a:spcPts val="2500"/>
              </a:lnSpc>
              <a:buNone/>
            </a:pPr>
            <a:r>
              <a:rPr lang="en-US" sz="1550" b="1" dirty="0">
                <a:solidFill>
                  <a:srgbClr val="FFFFFF"/>
                </a:solidFill>
                <a:latin typeface="Lato" pitchFamily="34" charset="0"/>
                <a:ea typeface="Lato" pitchFamily="34" charset="-122"/>
                <a:cs typeface="Lato" pitchFamily="34" charset="-120"/>
              </a:rPr>
              <a:t>Loss Function:</a:t>
            </a:r>
            <a:r>
              <a:rPr lang="en-US" sz="1550" dirty="0">
                <a:solidFill>
                  <a:srgbClr val="FFFFFF"/>
                </a:solidFill>
                <a:latin typeface="Lato" pitchFamily="34" charset="0"/>
                <a:ea typeface="Lato" pitchFamily="34" charset="-122"/>
                <a:cs typeface="Lato" pitchFamily="34" charset="-120"/>
              </a:rPr>
              <a:t> Ordinal loss penalizes predictions based on distance from ground truth, reflecting gradual degradation.</a:t>
            </a:r>
            <a:endParaRPr lang="en-US" sz="1550" dirty="0"/>
          </a:p>
        </p:txBody>
      </p:sp>
      <p:sp>
        <p:nvSpPr>
          <p:cNvPr id="7" name="Text 5"/>
          <p:cNvSpPr/>
          <p:nvPr/>
        </p:nvSpPr>
        <p:spPr>
          <a:xfrm>
            <a:off x="944047" y="4709993"/>
            <a:ext cx="6125289" cy="644604"/>
          </a:xfrm>
          <a:prstGeom prst="rect">
            <a:avLst/>
          </a:prstGeom>
          <a:noFill/>
          <a:ln/>
        </p:spPr>
        <p:txBody>
          <a:bodyPr wrap="square" lIns="0" tIns="0" rIns="0" bIns="0" rtlCol="0" anchor="t"/>
          <a:lstStyle/>
          <a:p>
            <a:pPr marL="0" indent="0" algn="l">
              <a:lnSpc>
                <a:spcPts val="2500"/>
              </a:lnSpc>
              <a:buNone/>
            </a:pPr>
            <a:r>
              <a:rPr lang="en-US" sz="1550" dirty="0">
                <a:solidFill>
                  <a:srgbClr val="4A4A45"/>
                </a:solidFill>
                <a:latin typeface="Lato" pitchFamily="34" charset="0"/>
                <a:ea typeface="Lato" pitchFamily="34" charset="-122"/>
                <a:cs typeface="Lato" pitchFamily="34" charset="-120"/>
              </a:rPr>
              <a:t>This allows the model to predict "how stale" a fruit is, crucial for supply chain management, instead of a simple binary classification.</a:t>
            </a:r>
            <a:endParaRPr lang="en-US" sz="1550" dirty="0"/>
          </a:p>
        </p:txBody>
      </p:sp>
      <p:sp>
        <p:nvSpPr>
          <p:cNvPr id="8" name="Shape 6"/>
          <p:cNvSpPr/>
          <p:nvPr/>
        </p:nvSpPr>
        <p:spPr>
          <a:xfrm>
            <a:off x="7568446" y="2030968"/>
            <a:ext cx="6125289" cy="3097054"/>
          </a:xfrm>
          <a:prstGeom prst="roundRect">
            <a:avLst>
              <a:gd name="adj" fmla="val 976"/>
            </a:avLst>
          </a:prstGeom>
          <a:solidFill>
            <a:srgbClr val="E8E4DD"/>
          </a:solidFill>
          <a:ln/>
        </p:spPr>
        <p:txBody>
          <a:bodyPr/>
          <a:lstStyle/>
          <a:p>
            <a:endParaRPr lang="en-US"/>
          </a:p>
        </p:txBody>
      </p:sp>
      <p:sp>
        <p:nvSpPr>
          <p:cNvPr id="9" name="Text 7"/>
          <p:cNvSpPr/>
          <p:nvPr/>
        </p:nvSpPr>
        <p:spPr>
          <a:xfrm>
            <a:off x="7769900" y="2232422"/>
            <a:ext cx="4080867" cy="377666"/>
          </a:xfrm>
          <a:prstGeom prst="rect">
            <a:avLst/>
          </a:prstGeom>
          <a:noFill/>
          <a:ln/>
        </p:spPr>
        <p:txBody>
          <a:bodyPr wrap="none" lIns="0" tIns="0" rIns="0" bIns="0" rtlCol="0" anchor="t"/>
          <a:lstStyle/>
          <a:p>
            <a:pPr marL="0" indent="0" algn="l">
              <a:lnSpc>
                <a:spcPts val="2950"/>
              </a:lnSpc>
              <a:buNone/>
            </a:pPr>
            <a:r>
              <a:rPr lang="en-US" sz="2350" b="1" dirty="0">
                <a:solidFill>
                  <a:srgbClr val="000000"/>
                </a:solidFill>
                <a:latin typeface="Lato Bold" pitchFamily="34" charset="0"/>
                <a:ea typeface="Lato Bold" pitchFamily="34" charset="-122"/>
                <a:cs typeface="Lato Bold" pitchFamily="34" charset="-120"/>
              </a:rPr>
              <a:t>Head 2: Domain Discriminator</a:t>
            </a:r>
            <a:endParaRPr lang="en-US" sz="2350" dirty="0"/>
          </a:p>
        </p:txBody>
      </p:sp>
      <p:sp>
        <p:nvSpPr>
          <p:cNvPr id="10" name="Text 8"/>
          <p:cNvSpPr/>
          <p:nvPr/>
        </p:nvSpPr>
        <p:spPr>
          <a:xfrm>
            <a:off x="7769900" y="2811542"/>
            <a:ext cx="5722382" cy="644604"/>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Lato" pitchFamily="34" charset="0"/>
                <a:ea typeface="Lato" pitchFamily="34" charset="-122"/>
                <a:cs typeface="Lato" pitchFamily="34" charset="-120"/>
              </a:rPr>
              <a:t>Adversarial Training:</a:t>
            </a:r>
            <a:r>
              <a:rPr lang="en-US" sz="1550" dirty="0">
                <a:solidFill>
                  <a:srgbClr val="000000"/>
                </a:solidFill>
                <a:latin typeface="Lato" pitchFamily="34" charset="0"/>
                <a:ea typeface="Lato" pitchFamily="34" charset="-122"/>
                <a:cs typeface="Lato" pitchFamily="34" charset="-120"/>
              </a:rPr>
              <a:t> Learns to predict the image's source domain (camera, lighting, background).</a:t>
            </a:r>
            <a:endParaRPr lang="en-US" sz="1550" dirty="0"/>
          </a:p>
        </p:txBody>
      </p:sp>
      <p:sp>
        <p:nvSpPr>
          <p:cNvPr id="11" name="Text 9"/>
          <p:cNvSpPr/>
          <p:nvPr/>
        </p:nvSpPr>
        <p:spPr>
          <a:xfrm>
            <a:off x="7769900" y="3637359"/>
            <a:ext cx="5722382" cy="128920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Lato" pitchFamily="34" charset="0"/>
                <a:ea typeface="Lato" pitchFamily="34" charset="-122"/>
                <a:cs typeface="Lato" pitchFamily="34" charset="-120"/>
              </a:rPr>
              <a:t>Gradient Reversal Layer (GRL):</a:t>
            </a:r>
            <a:r>
              <a:rPr lang="en-US" sz="1550" dirty="0">
                <a:solidFill>
                  <a:srgbClr val="000000"/>
                </a:solidFill>
                <a:latin typeface="Lato" pitchFamily="34" charset="0"/>
                <a:ea typeface="Lato" pitchFamily="34" charset="-122"/>
                <a:cs typeface="Lato" pitchFamily="34" charset="-120"/>
              </a:rPr>
              <a:t> Critically, GRL reverses gradients to encourage the feature extractor to learn representations that confuse the domain discriminator, thus achieving domain invariance.</a:t>
            </a:r>
            <a:endParaRPr lang="en-US" sz="1550" dirty="0"/>
          </a:p>
        </p:txBody>
      </p:sp>
      <p:sp>
        <p:nvSpPr>
          <p:cNvPr id="12" name="Text 10"/>
          <p:cNvSpPr/>
          <p:nvPr/>
        </p:nvSpPr>
        <p:spPr>
          <a:xfrm>
            <a:off x="7568446" y="5354598"/>
            <a:ext cx="6125289" cy="644604"/>
          </a:xfrm>
          <a:prstGeom prst="rect">
            <a:avLst/>
          </a:prstGeom>
          <a:noFill/>
          <a:ln/>
        </p:spPr>
        <p:txBody>
          <a:bodyPr wrap="square" lIns="0" tIns="0" rIns="0" bIns="0" rtlCol="0" anchor="t"/>
          <a:lstStyle/>
          <a:p>
            <a:pPr marL="0" indent="0" algn="l">
              <a:lnSpc>
                <a:spcPts val="2500"/>
              </a:lnSpc>
              <a:buNone/>
            </a:pPr>
            <a:r>
              <a:rPr lang="en-US" sz="1550" dirty="0">
                <a:solidFill>
                  <a:srgbClr val="4A4A45"/>
                </a:solidFill>
                <a:latin typeface="Lato" pitchFamily="34" charset="0"/>
                <a:ea typeface="Lato" pitchFamily="34" charset="-122"/>
                <a:cs typeface="Lato" pitchFamily="34" charset="-120"/>
              </a:rPr>
              <a:t>The GRL is a simple yet powerful trick from DANN (Ganin &amp; Lakhmi, 2015) that fosters domain generalization.</a:t>
            </a:r>
            <a:endParaRPr lang="en-US" sz="1550" dirty="0"/>
          </a:p>
        </p:txBody>
      </p:sp>
      <p:sp>
        <p:nvSpPr>
          <p:cNvPr id="13" name="Text 11"/>
          <p:cNvSpPr/>
          <p:nvPr/>
        </p:nvSpPr>
        <p:spPr>
          <a:xfrm>
            <a:off x="944047" y="6435328"/>
            <a:ext cx="12742188" cy="344210"/>
          </a:xfrm>
          <a:prstGeom prst="rect">
            <a:avLst/>
          </a:prstGeom>
          <a:noFill/>
          <a:ln/>
        </p:spPr>
        <p:txBody>
          <a:bodyPr wrap="none" lIns="0" tIns="0" rIns="0" bIns="0" rtlCol="0" anchor="t"/>
          <a:lstStyle/>
          <a:p>
            <a:pPr marL="0" indent="0" algn="l">
              <a:lnSpc>
                <a:spcPts val="2850"/>
              </a:lnSpc>
              <a:buNone/>
            </a:pPr>
            <a:endParaRPr lang="en-US" sz="1750" dirty="0"/>
          </a:p>
        </p:txBody>
      </p:sp>
      <p:pic>
        <p:nvPicPr>
          <p:cNvPr id="14" name="Image 0" descr="preencoded.png"/>
          <p:cNvPicPr>
            <a:picLocks noChangeAspect="1"/>
          </p:cNvPicPr>
          <p:nvPr/>
        </p:nvPicPr>
        <p:blipFill>
          <a:blip r:embed="rId3"/>
          <a:stretch>
            <a:fillRect/>
          </a:stretch>
        </p:blipFill>
        <p:spPr>
          <a:xfrm>
            <a:off x="944047" y="6435328"/>
            <a:ext cx="12742188" cy="344210"/>
          </a:xfrm>
          <a:prstGeom prst="rect">
            <a:avLst/>
          </a:prstGeom>
        </p:spPr>
      </p:pic>
      <p:sp>
        <p:nvSpPr>
          <p:cNvPr id="15" name="Text 12"/>
          <p:cNvSpPr/>
          <p:nvPr/>
        </p:nvSpPr>
        <p:spPr>
          <a:xfrm>
            <a:off x="944047" y="7034451"/>
            <a:ext cx="12742188" cy="322302"/>
          </a:xfrm>
          <a:prstGeom prst="rect">
            <a:avLst/>
          </a:prstGeom>
          <a:noFill/>
          <a:ln/>
        </p:spPr>
        <p:txBody>
          <a:bodyPr wrap="none" lIns="0" tIns="0" rIns="0" bIns="0" rtlCol="0" anchor="t"/>
          <a:lstStyle/>
          <a:p>
            <a:pPr marL="0" indent="0" algn="l">
              <a:lnSpc>
                <a:spcPts val="2500"/>
              </a:lnSpc>
              <a:buNone/>
            </a:pPr>
            <a:r>
              <a:rPr lang="en-US" sz="1550" dirty="0">
                <a:solidFill>
                  <a:srgbClr val="4A4A45"/>
                </a:solidFill>
                <a:latin typeface="Lato" pitchFamily="34" charset="0"/>
                <a:ea typeface="Lato" pitchFamily="34" charset="-122"/>
                <a:cs typeface="Lato" pitchFamily="34" charset="-120"/>
              </a:rPr>
              <a:t>Where </a:t>
            </a:r>
            <a:r>
              <a:rPr lang="en-US" sz="1550" i="1" dirty="0">
                <a:solidFill>
                  <a:srgbClr val="4A4A45"/>
                </a:solidFill>
                <a:latin typeface="Lato" pitchFamily="34" charset="0"/>
                <a:ea typeface="Lato" pitchFamily="34" charset="-122"/>
                <a:cs typeface="Lato" pitchFamily="34" charset="-120"/>
              </a:rPr>
              <a:t>L_{ordinal}</a:t>
            </a:r>
            <a:r>
              <a:rPr lang="en-US" sz="1550" dirty="0">
                <a:solidFill>
                  <a:srgbClr val="4A4A45"/>
                </a:solidFill>
                <a:latin typeface="Lato" pitchFamily="34" charset="0"/>
                <a:ea typeface="Lato" pitchFamily="34" charset="-122"/>
                <a:cs typeface="Lato" pitchFamily="34" charset="-120"/>
              </a:rPr>
              <a:t> minimizes freshness prediction error and </a:t>
            </a:r>
            <a:r>
              <a:rPr lang="en-US" sz="1550" i="1" dirty="0">
                <a:solidFill>
                  <a:srgbClr val="4A4A45"/>
                </a:solidFill>
                <a:latin typeface="Lato" pitchFamily="34" charset="0"/>
                <a:ea typeface="Lato" pitchFamily="34" charset="-122"/>
                <a:cs typeface="Lato" pitchFamily="34" charset="-120"/>
              </a:rPr>
              <a:t>L_{adversarial}</a:t>
            </a:r>
            <a:r>
              <a:rPr lang="en-US" sz="1550" dirty="0">
                <a:solidFill>
                  <a:srgbClr val="4A4A45"/>
                </a:solidFill>
                <a:latin typeface="Lato" pitchFamily="34" charset="0"/>
                <a:ea typeface="Lato" pitchFamily="34" charset="-122"/>
                <a:cs typeface="Lato" pitchFamily="34" charset="-120"/>
              </a:rPr>
              <a:t> maximizes domain confusion.</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2949" y="737592"/>
            <a:ext cx="11712178" cy="650319"/>
          </a:xfrm>
          <a:prstGeom prst="rect">
            <a:avLst/>
          </a:prstGeom>
          <a:noFill/>
          <a:ln/>
        </p:spPr>
        <p:txBody>
          <a:bodyPr wrap="none" lIns="0" tIns="0" rIns="0" bIns="0" rtlCol="0" anchor="t"/>
          <a:lstStyle/>
          <a:p>
            <a:pPr marL="0" indent="0" algn="l">
              <a:lnSpc>
                <a:spcPts val="5100"/>
              </a:lnSpc>
              <a:buNone/>
            </a:pPr>
            <a:r>
              <a:rPr lang="en-US" sz="4050" b="1" dirty="0">
                <a:solidFill>
                  <a:srgbClr val="282824"/>
                </a:solidFill>
                <a:latin typeface="Lato Bold" pitchFamily="34" charset="0"/>
                <a:ea typeface="Lato Bold" pitchFamily="34" charset="-122"/>
                <a:cs typeface="Lato Bold" pitchFamily="34" charset="-120"/>
              </a:rPr>
              <a:t>Comparison: Baseline vs. Our Proposed DANN-ViT</a:t>
            </a:r>
            <a:endParaRPr lang="en-US" sz="4050" dirty="0"/>
          </a:p>
        </p:txBody>
      </p:sp>
      <p:sp>
        <p:nvSpPr>
          <p:cNvPr id="3" name="Text 1"/>
          <p:cNvSpPr/>
          <p:nvPr/>
        </p:nvSpPr>
        <p:spPr>
          <a:xfrm>
            <a:off x="732949" y="1908215"/>
            <a:ext cx="3659029" cy="390168"/>
          </a:xfrm>
          <a:prstGeom prst="rect">
            <a:avLst/>
          </a:prstGeom>
          <a:noFill/>
          <a:ln/>
        </p:spPr>
        <p:txBody>
          <a:bodyPr wrap="none" lIns="0" tIns="0" rIns="0" bIns="0" rtlCol="0" anchor="t"/>
          <a:lstStyle/>
          <a:p>
            <a:pPr marL="0" indent="0" algn="l">
              <a:lnSpc>
                <a:spcPts val="3050"/>
              </a:lnSpc>
              <a:buNone/>
            </a:pPr>
            <a:r>
              <a:rPr lang="en-US" sz="2450" b="1" dirty="0">
                <a:solidFill>
                  <a:srgbClr val="282824"/>
                </a:solidFill>
                <a:latin typeface="Lato Bold" pitchFamily="34" charset="0"/>
                <a:ea typeface="Lato Bold" pitchFamily="34" charset="-122"/>
                <a:cs typeface="Lato Bold" pitchFamily="34" charset="-120"/>
              </a:rPr>
              <a:t>BASELINE (ACWGAN-GP)</a:t>
            </a:r>
            <a:endParaRPr lang="en-US" sz="2450" dirty="0"/>
          </a:p>
        </p:txBody>
      </p:sp>
      <p:sp>
        <p:nvSpPr>
          <p:cNvPr id="4" name="Shape 2"/>
          <p:cNvSpPr/>
          <p:nvPr/>
        </p:nvSpPr>
        <p:spPr>
          <a:xfrm>
            <a:off x="732949" y="2532459"/>
            <a:ext cx="468273" cy="468273"/>
          </a:xfrm>
          <a:prstGeom prst="roundRect">
            <a:avLst>
              <a:gd name="adj" fmla="val 6667"/>
            </a:avLst>
          </a:prstGeom>
          <a:solidFill>
            <a:srgbClr val="E5DFD2"/>
          </a:solidFill>
          <a:ln/>
        </p:spPr>
        <p:txBody>
          <a:bodyPr/>
          <a:lstStyle/>
          <a:p>
            <a:endParaRPr lang="en-US"/>
          </a:p>
        </p:txBody>
      </p:sp>
      <p:sp>
        <p:nvSpPr>
          <p:cNvPr id="5" name="Text 3"/>
          <p:cNvSpPr/>
          <p:nvPr/>
        </p:nvSpPr>
        <p:spPr>
          <a:xfrm>
            <a:off x="810935" y="2571452"/>
            <a:ext cx="312182" cy="390168"/>
          </a:xfrm>
          <a:prstGeom prst="rect">
            <a:avLst/>
          </a:prstGeom>
          <a:noFill/>
          <a:ln/>
        </p:spPr>
        <p:txBody>
          <a:bodyPr wrap="none" lIns="0" tIns="0" rIns="0" bIns="0" rtlCol="0" anchor="t"/>
          <a:lstStyle/>
          <a:p>
            <a:pPr marL="0" indent="0" algn="ctr">
              <a:lnSpc>
                <a:spcPts val="2450"/>
              </a:lnSpc>
              <a:buNone/>
            </a:pPr>
            <a:r>
              <a:rPr lang="en-US" sz="2450" b="1" dirty="0">
                <a:solidFill>
                  <a:srgbClr val="4A4A45"/>
                </a:solidFill>
                <a:latin typeface="Lato Bold" pitchFamily="34" charset="0"/>
                <a:ea typeface="Lato Bold" pitchFamily="34" charset="-122"/>
                <a:cs typeface="Lato Bold" pitchFamily="34" charset="-120"/>
              </a:rPr>
              <a:t>1</a:t>
            </a:r>
            <a:endParaRPr lang="en-US" sz="2450" dirty="0"/>
          </a:p>
        </p:txBody>
      </p:sp>
      <p:sp>
        <p:nvSpPr>
          <p:cNvPr id="6" name="Text 4"/>
          <p:cNvSpPr/>
          <p:nvPr/>
        </p:nvSpPr>
        <p:spPr>
          <a:xfrm>
            <a:off x="1409343" y="2603897"/>
            <a:ext cx="3239095" cy="325160"/>
          </a:xfrm>
          <a:prstGeom prst="rect">
            <a:avLst/>
          </a:prstGeom>
          <a:noFill/>
          <a:ln/>
        </p:spPr>
        <p:txBody>
          <a:bodyPr wrap="none" lIns="0" tIns="0" rIns="0" bIns="0" rtlCol="0" anchor="t"/>
          <a:lstStyle/>
          <a:p>
            <a:pPr marL="0" indent="0" algn="l">
              <a:lnSpc>
                <a:spcPts val="2550"/>
              </a:lnSpc>
              <a:buNone/>
            </a:pPr>
            <a:r>
              <a:rPr lang="en-US" sz="2000" b="1" dirty="0">
                <a:solidFill>
                  <a:srgbClr val="4A4A45"/>
                </a:solidFill>
                <a:latin typeface="Lato Bold" pitchFamily="34" charset="0"/>
                <a:ea typeface="Lato Bold" pitchFamily="34" charset="-122"/>
                <a:cs typeface="Lato Bold" pitchFamily="34" charset="-120"/>
              </a:rPr>
              <a:t>Data Augmentation Module</a:t>
            </a:r>
            <a:endParaRPr lang="en-US" sz="2000" dirty="0"/>
          </a:p>
        </p:txBody>
      </p:sp>
      <p:sp>
        <p:nvSpPr>
          <p:cNvPr id="7" name="Text 5"/>
          <p:cNvSpPr/>
          <p:nvPr/>
        </p:nvSpPr>
        <p:spPr>
          <a:xfrm>
            <a:off x="1409343" y="3137178"/>
            <a:ext cx="5651897" cy="332899"/>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4A4A45"/>
                </a:solidFill>
                <a:latin typeface="Lato" pitchFamily="34" charset="0"/>
                <a:ea typeface="Lato" pitchFamily="34" charset="-122"/>
                <a:cs typeface="Lato" pitchFamily="34" charset="-120"/>
              </a:rPr>
              <a:t>Generator network, 100k training epochs.</a:t>
            </a:r>
            <a:endParaRPr lang="en-US" sz="1600" dirty="0"/>
          </a:p>
        </p:txBody>
      </p:sp>
      <p:sp>
        <p:nvSpPr>
          <p:cNvPr id="8" name="Text 6"/>
          <p:cNvSpPr/>
          <p:nvPr/>
        </p:nvSpPr>
        <p:spPr>
          <a:xfrm>
            <a:off x="1409343" y="3542824"/>
            <a:ext cx="5651897" cy="332899"/>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4A4A45"/>
                </a:solidFill>
                <a:latin typeface="Lato" pitchFamily="34" charset="0"/>
                <a:ea typeface="Lato" pitchFamily="34" charset="-122"/>
                <a:cs typeface="Lato" pitchFamily="34" charset="-120"/>
              </a:rPr>
              <a:t>Focus on creating synthetic samples.</a:t>
            </a:r>
            <a:endParaRPr lang="en-US" sz="1600" dirty="0"/>
          </a:p>
        </p:txBody>
      </p:sp>
      <p:sp>
        <p:nvSpPr>
          <p:cNvPr id="9" name="Shape 7"/>
          <p:cNvSpPr/>
          <p:nvPr/>
        </p:nvSpPr>
        <p:spPr>
          <a:xfrm>
            <a:off x="732949" y="4291965"/>
            <a:ext cx="468273" cy="468273"/>
          </a:xfrm>
          <a:prstGeom prst="roundRect">
            <a:avLst>
              <a:gd name="adj" fmla="val 6667"/>
            </a:avLst>
          </a:prstGeom>
          <a:solidFill>
            <a:srgbClr val="E5DFD2"/>
          </a:solidFill>
          <a:ln/>
        </p:spPr>
        <p:txBody>
          <a:bodyPr/>
          <a:lstStyle/>
          <a:p>
            <a:endParaRPr lang="en-US"/>
          </a:p>
        </p:txBody>
      </p:sp>
      <p:sp>
        <p:nvSpPr>
          <p:cNvPr id="10" name="Text 8"/>
          <p:cNvSpPr/>
          <p:nvPr/>
        </p:nvSpPr>
        <p:spPr>
          <a:xfrm>
            <a:off x="810935" y="4330958"/>
            <a:ext cx="312182" cy="390168"/>
          </a:xfrm>
          <a:prstGeom prst="rect">
            <a:avLst/>
          </a:prstGeom>
          <a:noFill/>
          <a:ln/>
        </p:spPr>
        <p:txBody>
          <a:bodyPr wrap="none" lIns="0" tIns="0" rIns="0" bIns="0" rtlCol="0" anchor="t"/>
          <a:lstStyle/>
          <a:p>
            <a:pPr marL="0" indent="0" algn="ctr">
              <a:lnSpc>
                <a:spcPts val="2450"/>
              </a:lnSpc>
              <a:buNone/>
            </a:pPr>
            <a:r>
              <a:rPr lang="en-US" sz="2450" b="1" dirty="0">
                <a:solidFill>
                  <a:srgbClr val="4A4A45"/>
                </a:solidFill>
                <a:latin typeface="Lato Bold" pitchFamily="34" charset="0"/>
                <a:ea typeface="Lato Bold" pitchFamily="34" charset="-122"/>
                <a:cs typeface="Lato Bold" pitchFamily="34" charset="-120"/>
              </a:rPr>
              <a:t>2</a:t>
            </a:r>
            <a:endParaRPr lang="en-US" sz="2450" dirty="0"/>
          </a:p>
        </p:txBody>
      </p:sp>
      <p:sp>
        <p:nvSpPr>
          <p:cNvPr id="11" name="Text 9"/>
          <p:cNvSpPr/>
          <p:nvPr/>
        </p:nvSpPr>
        <p:spPr>
          <a:xfrm>
            <a:off x="1409343" y="4363403"/>
            <a:ext cx="2601635" cy="325160"/>
          </a:xfrm>
          <a:prstGeom prst="rect">
            <a:avLst/>
          </a:prstGeom>
          <a:noFill/>
          <a:ln/>
        </p:spPr>
        <p:txBody>
          <a:bodyPr wrap="none" lIns="0" tIns="0" rIns="0" bIns="0" rtlCol="0" anchor="t"/>
          <a:lstStyle/>
          <a:p>
            <a:pPr marL="0" indent="0" algn="l">
              <a:lnSpc>
                <a:spcPts val="2550"/>
              </a:lnSpc>
              <a:buNone/>
            </a:pPr>
            <a:r>
              <a:rPr lang="en-US" sz="2000" b="1" dirty="0">
                <a:solidFill>
                  <a:srgbClr val="4A4A45"/>
                </a:solidFill>
                <a:latin typeface="Lato Bold" pitchFamily="34" charset="0"/>
                <a:ea typeface="Lato Bold" pitchFamily="34" charset="-122"/>
                <a:cs typeface="Lato Bold" pitchFamily="34" charset="-120"/>
              </a:rPr>
              <a:t>Classification</a:t>
            </a:r>
            <a:endParaRPr lang="en-US" sz="2000" dirty="0"/>
          </a:p>
        </p:txBody>
      </p:sp>
      <p:sp>
        <p:nvSpPr>
          <p:cNvPr id="12" name="Text 10"/>
          <p:cNvSpPr/>
          <p:nvPr/>
        </p:nvSpPr>
        <p:spPr>
          <a:xfrm>
            <a:off x="1409343" y="4896683"/>
            <a:ext cx="5651897" cy="332899"/>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4A4A45"/>
                </a:solidFill>
                <a:latin typeface="Lato" pitchFamily="34" charset="0"/>
                <a:ea typeface="Lato" pitchFamily="34" charset="-122"/>
                <a:cs typeface="Lato" pitchFamily="34" charset="-120"/>
              </a:rPr>
              <a:t>Wide ResNet-101-2, ProgressiveSpinal FC head.</a:t>
            </a:r>
            <a:endParaRPr lang="en-US" sz="1600" dirty="0"/>
          </a:p>
        </p:txBody>
      </p:sp>
      <p:sp>
        <p:nvSpPr>
          <p:cNvPr id="13" name="Text 11"/>
          <p:cNvSpPr/>
          <p:nvPr/>
        </p:nvSpPr>
        <p:spPr>
          <a:xfrm>
            <a:off x="1409343" y="5302329"/>
            <a:ext cx="5651897" cy="332899"/>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4A4A45"/>
                </a:solidFill>
                <a:latin typeface="Lato" pitchFamily="34" charset="0"/>
                <a:ea typeface="Lato" pitchFamily="34" charset="-122"/>
                <a:cs typeface="Lato" pitchFamily="34" charset="-120"/>
              </a:rPr>
              <a:t>Binary (Fresh/Stale) classification.</a:t>
            </a:r>
            <a:endParaRPr lang="en-US" sz="1600" dirty="0"/>
          </a:p>
        </p:txBody>
      </p:sp>
      <p:sp>
        <p:nvSpPr>
          <p:cNvPr id="14" name="Text 12"/>
          <p:cNvSpPr/>
          <p:nvPr/>
        </p:nvSpPr>
        <p:spPr>
          <a:xfrm>
            <a:off x="732949" y="5869305"/>
            <a:ext cx="6328291" cy="332899"/>
          </a:xfrm>
          <a:prstGeom prst="rect">
            <a:avLst/>
          </a:prstGeom>
          <a:noFill/>
          <a:ln/>
        </p:spPr>
        <p:txBody>
          <a:bodyPr wrap="none" lIns="0" tIns="0" rIns="0" bIns="0" rtlCol="0" anchor="t"/>
          <a:lstStyle/>
          <a:p>
            <a:pPr marL="342900" indent="-342900" algn="l">
              <a:lnSpc>
                <a:spcPts val="2600"/>
              </a:lnSpc>
              <a:buSzPct val="100000"/>
              <a:buChar char="•"/>
            </a:pPr>
            <a:r>
              <a:rPr lang="en-US" sz="1600" b="1" dirty="0">
                <a:solidFill>
                  <a:srgbClr val="4A4A45"/>
                </a:solidFill>
                <a:latin typeface="Lato" pitchFamily="34" charset="0"/>
                <a:ea typeface="Lato" pitchFamily="34" charset="-122"/>
                <a:cs typeface="Lato" pitchFamily="34" charset="-120"/>
              </a:rPr>
              <a:t>Focus:</a:t>
            </a:r>
            <a:r>
              <a:rPr lang="en-US" sz="1600" dirty="0">
                <a:solidFill>
                  <a:srgbClr val="4A4A45"/>
                </a:solidFill>
                <a:latin typeface="Lato" pitchFamily="34" charset="0"/>
                <a:ea typeface="Lato" pitchFamily="34" charset="-122"/>
                <a:cs typeface="Lato" pitchFamily="34" charset="-120"/>
              </a:rPr>
              <a:t> In-domain accuracy (100% on Food Aayush).</a:t>
            </a:r>
            <a:endParaRPr lang="en-US" sz="1600" dirty="0"/>
          </a:p>
        </p:txBody>
      </p:sp>
      <p:sp>
        <p:nvSpPr>
          <p:cNvPr id="15" name="Text 13"/>
          <p:cNvSpPr/>
          <p:nvPr/>
        </p:nvSpPr>
        <p:spPr>
          <a:xfrm>
            <a:off x="732949" y="6274951"/>
            <a:ext cx="6328291" cy="332899"/>
          </a:xfrm>
          <a:prstGeom prst="rect">
            <a:avLst/>
          </a:prstGeom>
          <a:noFill/>
          <a:ln/>
        </p:spPr>
        <p:txBody>
          <a:bodyPr wrap="none" lIns="0" tIns="0" rIns="0" bIns="0" rtlCol="0" anchor="t"/>
          <a:lstStyle/>
          <a:p>
            <a:pPr marL="342900" indent="-342900" algn="l">
              <a:lnSpc>
                <a:spcPts val="2600"/>
              </a:lnSpc>
              <a:buSzPct val="100000"/>
              <a:buChar char="•"/>
            </a:pPr>
            <a:r>
              <a:rPr lang="en-US" sz="1600" b="1" dirty="0">
                <a:solidFill>
                  <a:srgbClr val="4A4A45"/>
                </a:solidFill>
                <a:latin typeface="Lato" pitchFamily="34" charset="0"/>
                <a:ea typeface="Lato" pitchFamily="34" charset="-122"/>
                <a:cs typeface="Lato" pitchFamily="34" charset="-120"/>
              </a:rPr>
              <a:t>Training Time:</a:t>
            </a:r>
            <a:r>
              <a:rPr lang="en-US" sz="1600" dirty="0">
                <a:solidFill>
                  <a:srgbClr val="4A4A45"/>
                </a:solidFill>
                <a:latin typeface="Lato" pitchFamily="34" charset="0"/>
                <a:ea typeface="Lato" pitchFamily="34" charset="-122"/>
                <a:cs typeface="Lato" pitchFamily="34" charset="-120"/>
              </a:rPr>
              <a:t> 60+ hours (GAN).</a:t>
            </a:r>
            <a:endParaRPr lang="en-US" sz="1600" dirty="0"/>
          </a:p>
        </p:txBody>
      </p:sp>
      <p:sp>
        <p:nvSpPr>
          <p:cNvPr id="16" name="Text 14"/>
          <p:cNvSpPr/>
          <p:nvPr/>
        </p:nvSpPr>
        <p:spPr>
          <a:xfrm>
            <a:off x="732949" y="6680597"/>
            <a:ext cx="6328291" cy="332899"/>
          </a:xfrm>
          <a:prstGeom prst="rect">
            <a:avLst/>
          </a:prstGeom>
          <a:noFill/>
          <a:ln/>
        </p:spPr>
        <p:txBody>
          <a:bodyPr wrap="none" lIns="0" tIns="0" rIns="0" bIns="0" rtlCol="0" anchor="t"/>
          <a:lstStyle/>
          <a:p>
            <a:pPr marL="342900" indent="-342900" algn="l">
              <a:lnSpc>
                <a:spcPts val="2600"/>
              </a:lnSpc>
              <a:buSzPct val="100000"/>
              <a:buChar char="•"/>
            </a:pPr>
            <a:r>
              <a:rPr lang="en-US" sz="1600" b="1" dirty="0">
                <a:solidFill>
                  <a:srgbClr val="4A4A45"/>
                </a:solidFill>
                <a:latin typeface="Lato" pitchFamily="34" charset="0"/>
                <a:ea typeface="Lato" pitchFamily="34" charset="-122"/>
                <a:cs typeface="Lato" pitchFamily="34" charset="-120"/>
              </a:rPr>
              <a:t>Complexity:</a:t>
            </a:r>
            <a:r>
              <a:rPr lang="en-US" sz="1600" dirty="0">
                <a:solidFill>
                  <a:srgbClr val="4A4A45"/>
                </a:solidFill>
                <a:latin typeface="Lato" pitchFamily="34" charset="0"/>
                <a:ea typeface="Lato" pitchFamily="34" charset="-122"/>
                <a:cs typeface="Lato" pitchFamily="34" charset="-120"/>
              </a:rPr>
              <a:t> Very high, costly hardware.</a:t>
            </a:r>
            <a:endParaRPr lang="en-US" sz="1600" dirty="0"/>
          </a:p>
        </p:txBody>
      </p:sp>
      <p:sp>
        <p:nvSpPr>
          <p:cNvPr id="17" name="Text 15"/>
          <p:cNvSpPr/>
          <p:nvPr/>
        </p:nvSpPr>
        <p:spPr>
          <a:xfrm>
            <a:off x="732949" y="7086243"/>
            <a:ext cx="6328291" cy="332899"/>
          </a:xfrm>
          <a:prstGeom prst="rect">
            <a:avLst/>
          </a:prstGeom>
          <a:noFill/>
          <a:ln/>
        </p:spPr>
        <p:txBody>
          <a:bodyPr wrap="none" lIns="0" tIns="0" rIns="0" bIns="0" rtlCol="0" anchor="t"/>
          <a:lstStyle/>
          <a:p>
            <a:pPr marL="342900" indent="-342900" algn="l">
              <a:lnSpc>
                <a:spcPts val="2600"/>
              </a:lnSpc>
              <a:buSzPct val="100000"/>
              <a:buChar char="•"/>
            </a:pPr>
            <a:r>
              <a:rPr lang="en-US" sz="1600" b="1" dirty="0">
                <a:solidFill>
                  <a:srgbClr val="4A4A45"/>
                </a:solidFill>
                <a:latin typeface="Lato" pitchFamily="34" charset="0"/>
                <a:ea typeface="Lato" pitchFamily="34" charset="-122"/>
                <a:cs typeface="Lato" pitchFamily="34" charset="-120"/>
              </a:rPr>
              <a:t>Data Needed:</a:t>
            </a:r>
            <a:r>
              <a:rPr lang="en-US" sz="1600" dirty="0">
                <a:solidFill>
                  <a:srgbClr val="4A4A45"/>
                </a:solidFill>
                <a:latin typeface="Lato" pitchFamily="34" charset="0"/>
                <a:ea typeface="Lato" pitchFamily="34" charset="-122"/>
                <a:cs typeface="Lato" pitchFamily="34" charset="-120"/>
              </a:rPr>
              <a:t> Original + Synthetic data.</a:t>
            </a:r>
            <a:endParaRPr lang="en-US" sz="1600" dirty="0"/>
          </a:p>
        </p:txBody>
      </p:sp>
      <p:sp>
        <p:nvSpPr>
          <p:cNvPr id="18" name="Text 16"/>
          <p:cNvSpPr/>
          <p:nvPr/>
        </p:nvSpPr>
        <p:spPr>
          <a:xfrm>
            <a:off x="7576542" y="1908215"/>
            <a:ext cx="4203740" cy="390168"/>
          </a:xfrm>
          <a:prstGeom prst="rect">
            <a:avLst/>
          </a:prstGeom>
          <a:noFill/>
          <a:ln/>
        </p:spPr>
        <p:txBody>
          <a:bodyPr wrap="none" lIns="0" tIns="0" rIns="0" bIns="0" rtlCol="0" anchor="t"/>
          <a:lstStyle/>
          <a:p>
            <a:pPr marL="0" indent="0" algn="l">
              <a:lnSpc>
                <a:spcPts val="3050"/>
              </a:lnSpc>
              <a:buNone/>
            </a:pPr>
            <a:r>
              <a:rPr lang="en-US" sz="2450" b="1" dirty="0">
                <a:solidFill>
                  <a:srgbClr val="282824"/>
                </a:solidFill>
                <a:latin typeface="Lato Bold" pitchFamily="34" charset="0"/>
                <a:ea typeface="Lato Bold" pitchFamily="34" charset="-122"/>
                <a:cs typeface="Lato Bold" pitchFamily="34" charset="-120"/>
              </a:rPr>
              <a:t>OUR APPROACH (DANN-ViT)</a:t>
            </a:r>
            <a:endParaRPr lang="en-US" sz="2450" dirty="0"/>
          </a:p>
        </p:txBody>
      </p:sp>
      <p:sp>
        <p:nvSpPr>
          <p:cNvPr id="19" name="Shape 17"/>
          <p:cNvSpPr/>
          <p:nvPr/>
        </p:nvSpPr>
        <p:spPr>
          <a:xfrm>
            <a:off x="7576542" y="2532459"/>
            <a:ext cx="468273" cy="468273"/>
          </a:xfrm>
          <a:prstGeom prst="roundRect">
            <a:avLst>
              <a:gd name="adj" fmla="val 6667"/>
            </a:avLst>
          </a:prstGeom>
          <a:solidFill>
            <a:srgbClr val="E5DFD2"/>
          </a:solidFill>
          <a:ln/>
        </p:spPr>
        <p:txBody>
          <a:bodyPr/>
          <a:lstStyle/>
          <a:p>
            <a:endParaRPr lang="en-US"/>
          </a:p>
        </p:txBody>
      </p:sp>
      <p:sp>
        <p:nvSpPr>
          <p:cNvPr id="20" name="Text 18"/>
          <p:cNvSpPr/>
          <p:nvPr/>
        </p:nvSpPr>
        <p:spPr>
          <a:xfrm>
            <a:off x="7654528" y="2571452"/>
            <a:ext cx="312182" cy="390168"/>
          </a:xfrm>
          <a:prstGeom prst="rect">
            <a:avLst/>
          </a:prstGeom>
          <a:noFill/>
          <a:ln/>
        </p:spPr>
        <p:txBody>
          <a:bodyPr wrap="none" lIns="0" tIns="0" rIns="0" bIns="0" rtlCol="0" anchor="t"/>
          <a:lstStyle/>
          <a:p>
            <a:pPr marL="0" indent="0" algn="ctr">
              <a:lnSpc>
                <a:spcPts val="2450"/>
              </a:lnSpc>
              <a:buNone/>
            </a:pPr>
            <a:r>
              <a:rPr lang="en-US" sz="2450" b="1" dirty="0">
                <a:solidFill>
                  <a:srgbClr val="4A4A45"/>
                </a:solidFill>
                <a:latin typeface="Lato Bold" pitchFamily="34" charset="0"/>
                <a:ea typeface="Lato Bold" pitchFamily="34" charset="-122"/>
                <a:cs typeface="Lato Bold" pitchFamily="34" charset="-120"/>
              </a:rPr>
              <a:t>1</a:t>
            </a:r>
            <a:endParaRPr lang="en-US" sz="2450" dirty="0"/>
          </a:p>
        </p:txBody>
      </p:sp>
      <p:sp>
        <p:nvSpPr>
          <p:cNvPr id="21" name="Text 19"/>
          <p:cNvSpPr/>
          <p:nvPr/>
        </p:nvSpPr>
        <p:spPr>
          <a:xfrm>
            <a:off x="8252936" y="2603897"/>
            <a:ext cx="3230642" cy="325160"/>
          </a:xfrm>
          <a:prstGeom prst="rect">
            <a:avLst/>
          </a:prstGeom>
          <a:noFill/>
          <a:ln/>
        </p:spPr>
        <p:txBody>
          <a:bodyPr wrap="none" lIns="0" tIns="0" rIns="0" bIns="0" rtlCol="0" anchor="t"/>
          <a:lstStyle/>
          <a:p>
            <a:pPr marL="0" indent="0" algn="l">
              <a:lnSpc>
                <a:spcPts val="2550"/>
              </a:lnSpc>
              <a:buNone/>
            </a:pPr>
            <a:r>
              <a:rPr lang="en-US" sz="2000" b="1" dirty="0">
                <a:solidFill>
                  <a:srgbClr val="4A4A45"/>
                </a:solidFill>
                <a:latin typeface="Lato Bold" pitchFamily="34" charset="0"/>
                <a:ea typeface="Lato Bold" pitchFamily="34" charset="-122"/>
                <a:cs typeface="Lato Bold" pitchFamily="34" charset="-120"/>
              </a:rPr>
              <a:t>Domain Adaptation Module</a:t>
            </a:r>
            <a:endParaRPr lang="en-US" sz="2000" dirty="0"/>
          </a:p>
        </p:txBody>
      </p:sp>
      <p:sp>
        <p:nvSpPr>
          <p:cNvPr id="22" name="Text 20"/>
          <p:cNvSpPr/>
          <p:nvPr/>
        </p:nvSpPr>
        <p:spPr>
          <a:xfrm>
            <a:off x="8252936" y="3137178"/>
            <a:ext cx="5651897" cy="332899"/>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4A4A45"/>
                </a:solidFill>
                <a:latin typeface="Lato" pitchFamily="34" charset="0"/>
                <a:ea typeface="Lato" pitchFamily="34" charset="-122"/>
                <a:cs typeface="Lato" pitchFamily="34" charset="-120"/>
              </a:rPr>
              <a:t>Adversarial domain loss, Gradient Reversal Layer.</a:t>
            </a:r>
            <a:endParaRPr lang="en-US" sz="1600" dirty="0"/>
          </a:p>
        </p:txBody>
      </p:sp>
      <p:sp>
        <p:nvSpPr>
          <p:cNvPr id="23" name="Text 21"/>
          <p:cNvSpPr/>
          <p:nvPr/>
        </p:nvSpPr>
        <p:spPr>
          <a:xfrm>
            <a:off x="8252936" y="3542824"/>
            <a:ext cx="5651897" cy="332899"/>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4A4A45"/>
                </a:solidFill>
                <a:latin typeface="Lato" pitchFamily="34" charset="0"/>
                <a:ea typeface="Lato" pitchFamily="34" charset="-122"/>
                <a:cs typeface="Lato" pitchFamily="34" charset="-120"/>
              </a:rPr>
              <a:t>Focus on learning invariant features.</a:t>
            </a:r>
            <a:endParaRPr lang="en-US" sz="1600" dirty="0"/>
          </a:p>
        </p:txBody>
      </p:sp>
      <p:sp>
        <p:nvSpPr>
          <p:cNvPr id="24" name="Shape 22"/>
          <p:cNvSpPr/>
          <p:nvPr/>
        </p:nvSpPr>
        <p:spPr>
          <a:xfrm>
            <a:off x="7576542" y="4291965"/>
            <a:ext cx="468273" cy="468273"/>
          </a:xfrm>
          <a:prstGeom prst="roundRect">
            <a:avLst>
              <a:gd name="adj" fmla="val 6667"/>
            </a:avLst>
          </a:prstGeom>
          <a:solidFill>
            <a:srgbClr val="E5DFD2"/>
          </a:solidFill>
          <a:ln/>
        </p:spPr>
        <p:txBody>
          <a:bodyPr/>
          <a:lstStyle/>
          <a:p>
            <a:endParaRPr lang="en-US"/>
          </a:p>
        </p:txBody>
      </p:sp>
      <p:sp>
        <p:nvSpPr>
          <p:cNvPr id="25" name="Text 23"/>
          <p:cNvSpPr/>
          <p:nvPr/>
        </p:nvSpPr>
        <p:spPr>
          <a:xfrm>
            <a:off x="7654528" y="4330958"/>
            <a:ext cx="312182" cy="390168"/>
          </a:xfrm>
          <a:prstGeom prst="rect">
            <a:avLst/>
          </a:prstGeom>
          <a:noFill/>
          <a:ln/>
        </p:spPr>
        <p:txBody>
          <a:bodyPr wrap="none" lIns="0" tIns="0" rIns="0" bIns="0" rtlCol="0" anchor="t"/>
          <a:lstStyle/>
          <a:p>
            <a:pPr marL="0" indent="0" algn="ctr">
              <a:lnSpc>
                <a:spcPts val="2450"/>
              </a:lnSpc>
              <a:buNone/>
            </a:pPr>
            <a:r>
              <a:rPr lang="en-US" sz="2450" b="1" dirty="0">
                <a:solidFill>
                  <a:srgbClr val="4A4A45"/>
                </a:solidFill>
                <a:latin typeface="Lato Bold" pitchFamily="34" charset="0"/>
                <a:ea typeface="Lato Bold" pitchFamily="34" charset="-122"/>
                <a:cs typeface="Lato Bold" pitchFamily="34" charset="-120"/>
              </a:rPr>
              <a:t>2</a:t>
            </a:r>
            <a:endParaRPr lang="en-US" sz="2450" dirty="0"/>
          </a:p>
        </p:txBody>
      </p:sp>
      <p:sp>
        <p:nvSpPr>
          <p:cNvPr id="26" name="Text 24"/>
          <p:cNvSpPr/>
          <p:nvPr/>
        </p:nvSpPr>
        <p:spPr>
          <a:xfrm>
            <a:off x="8252936" y="4363403"/>
            <a:ext cx="2601635" cy="325160"/>
          </a:xfrm>
          <a:prstGeom prst="rect">
            <a:avLst/>
          </a:prstGeom>
          <a:noFill/>
          <a:ln/>
        </p:spPr>
        <p:txBody>
          <a:bodyPr wrap="none" lIns="0" tIns="0" rIns="0" bIns="0" rtlCol="0" anchor="t"/>
          <a:lstStyle/>
          <a:p>
            <a:pPr marL="0" indent="0" algn="l">
              <a:lnSpc>
                <a:spcPts val="2550"/>
              </a:lnSpc>
              <a:buNone/>
            </a:pPr>
            <a:r>
              <a:rPr lang="en-US" sz="2000" b="1" dirty="0">
                <a:solidFill>
                  <a:srgbClr val="4A4A45"/>
                </a:solidFill>
                <a:latin typeface="Lato Bold" pitchFamily="34" charset="0"/>
                <a:ea typeface="Lato Bold" pitchFamily="34" charset="-122"/>
                <a:cs typeface="Lato Bold" pitchFamily="34" charset="-120"/>
              </a:rPr>
              <a:t>Classification</a:t>
            </a:r>
            <a:endParaRPr lang="en-US" sz="2000" dirty="0"/>
          </a:p>
        </p:txBody>
      </p:sp>
      <p:sp>
        <p:nvSpPr>
          <p:cNvPr id="27" name="Text 25"/>
          <p:cNvSpPr/>
          <p:nvPr/>
        </p:nvSpPr>
        <p:spPr>
          <a:xfrm>
            <a:off x="8252936" y="4896683"/>
            <a:ext cx="5651897" cy="332899"/>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4A4A45"/>
                </a:solidFill>
                <a:latin typeface="Lato" pitchFamily="34" charset="0"/>
                <a:ea typeface="Lato" pitchFamily="34" charset="-122"/>
                <a:cs typeface="Lato" pitchFamily="34" charset="-120"/>
              </a:rPr>
              <a:t>Vision Transformer (ViT), InstanceNorm + Attention.</a:t>
            </a:r>
            <a:endParaRPr lang="en-US" sz="1600" dirty="0"/>
          </a:p>
        </p:txBody>
      </p:sp>
      <p:sp>
        <p:nvSpPr>
          <p:cNvPr id="28" name="Text 26"/>
          <p:cNvSpPr/>
          <p:nvPr/>
        </p:nvSpPr>
        <p:spPr>
          <a:xfrm>
            <a:off x="8252936" y="5302329"/>
            <a:ext cx="5651897" cy="332899"/>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4A4A45"/>
                </a:solidFill>
                <a:latin typeface="Lato" pitchFamily="34" charset="0"/>
                <a:ea typeface="Lato" pitchFamily="34" charset="-122"/>
                <a:cs typeface="Lato" pitchFamily="34" charset="-120"/>
              </a:rPr>
              <a:t>Ordinal regression (5-level freshness).</a:t>
            </a:r>
            <a:endParaRPr lang="en-US" sz="1600" dirty="0"/>
          </a:p>
        </p:txBody>
      </p:sp>
      <p:sp>
        <p:nvSpPr>
          <p:cNvPr id="29" name="Text 27"/>
          <p:cNvSpPr/>
          <p:nvPr/>
        </p:nvSpPr>
        <p:spPr>
          <a:xfrm>
            <a:off x="7576542" y="5869305"/>
            <a:ext cx="6328291" cy="332899"/>
          </a:xfrm>
          <a:prstGeom prst="rect">
            <a:avLst/>
          </a:prstGeom>
          <a:noFill/>
          <a:ln/>
        </p:spPr>
        <p:txBody>
          <a:bodyPr wrap="none" lIns="0" tIns="0" rIns="0" bIns="0" rtlCol="0" anchor="t"/>
          <a:lstStyle/>
          <a:p>
            <a:pPr marL="342900" indent="-342900" algn="l">
              <a:lnSpc>
                <a:spcPts val="2600"/>
              </a:lnSpc>
              <a:buSzPct val="100000"/>
              <a:buChar char="•"/>
            </a:pPr>
            <a:r>
              <a:rPr lang="en-US" sz="1600" b="1" dirty="0">
                <a:solidFill>
                  <a:srgbClr val="4A4A45"/>
                </a:solidFill>
                <a:latin typeface="Lato" pitchFamily="34" charset="0"/>
                <a:ea typeface="Lato" pitchFamily="34" charset="-122"/>
                <a:cs typeface="Lato" pitchFamily="34" charset="-120"/>
              </a:rPr>
              <a:t>Focus:</a:t>
            </a:r>
            <a:r>
              <a:rPr lang="en-US" sz="1600" dirty="0">
                <a:solidFill>
                  <a:srgbClr val="4A4A45"/>
                </a:solidFill>
                <a:latin typeface="Lato" pitchFamily="34" charset="0"/>
                <a:ea typeface="Lato" pitchFamily="34" charset="-122"/>
                <a:cs typeface="Lato" pitchFamily="34" charset="-120"/>
              </a:rPr>
              <a:t> Cross-domain robustness and generalization.</a:t>
            </a:r>
            <a:endParaRPr lang="en-US" sz="1600" dirty="0"/>
          </a:p>
        </p:txBody>
      </p:sp>
      <p:sp>
        <p:nvSpPr>
          <p:cNvPr id="30" name="Text 28"/>
          <p:cNvSpPr/>
          <p:nvPr/>
        </p:nvSpPr>
        <p:spPr>
          <a:xfrm>
            <a:off x="7576542" y="6274951"/>
            <a:ext cx="6328291" cy="332899"/>
          </a:xfrm>
          <a:prstGeom prst="rect">
            <a:avLst/>
          </a:prstGeom>
          <a:noFill/>
          <a:ln/>
        </p:spPr>
        <p:txBody>
          <a:bodyPr wrap="none" lIns="0" tIns="0" rIns="0" bIns="0" rtlCol="0" anchor="t"/>
          <a:lstStyle/>
          <a:p>
            <a:pPr marL="342900" indent="-342900" algn="l">
              <a:lnSpc>
                <a:spcPts val="2600"/>
              </a:lnSpc>
              <a:buSzPct val="100000"/>
              <a:buChar char="•"/>
            </a:pPr>
            <a:r>
              <a:rPr lang="en-US" sz="1600" b="1" dirty="0">
                <a:solidFill>
                  <a:srgbClr val="4A4A45"/>
                </a:solidFill>
                <a:latin typeface="Lato" pitchFamily="34" charset="0"/>
                <a:ea typeface="Lato" pitchFamily="34" charset="-122"/>
                <a:cs typeface="Lato" pitchFamily="34" charset="-120"/>
              </a:rPr>
              <a:t>Training Time:</a:t>
            </a:r>
            <a:r>
              <a:rPr lang="en-US" sz="1600" dirty="0">
                <a:solidFill>
                  <a:srgbClr val="4A4A45"/>
                </a:solidFill>
                <a:latin typeface="Lato" pitchFamily="34" charset="0"/>
                <a:ea typeface="Lato" pitchFamily="34" charset="-122"/>
                <a:cs typeface="Lato" pitchFamily="34" charset="-120"/>
              </a:rPr>
              <a:t> 2-4 hours.</a:t>
            </a:r>
            <a:endParaRPr lang="en-US" sz="1600" dirty="0"/>
          </a:p>
        </p:txBody>
      </p:sp>
      <p:sp>
        <p:nvSpPr>
          <p:cNvPr id="31" name="Text 29"/>
          <p:cNvSpPr/>
          <p:nvPr/>
        </p:nvSpPr>
        <p:spPr>
          <a:xfrm>
            <a:off x="7576542" y="6680597"/>
            <a:ext cx="6328291" cy="332899"/>
          </a:xfrm>
          <a:prstGeom prst="rect">
            <a:avLst/>
          </a:prstGeom>
          <a:noFill/>
          <a:ln/>
        </p:spPr>
        <p:txBody>
          <a:bodyPr wrap="none" lIns="0" tIns="0" rIns="0" bIns="0" rtlCol="0" anchor="t"/>
          <a:lstStyle/>
          <a:p>
            <a:pPr marL="342900" indent="-342900" algn="l">
              <a:lnSpc>
                <a:spcPts val="2600"/>
              </a:lnSpc>
              <a:buSzPct val="100000"/>
              <a:buChar char="•"/>
            </a:pPr>
            <a:r>
              <a:rPr lang="en-US" sz="1600" b="1" dirty="0">
                <a:solidFill>
                  <a:srgbClr val="4A4A45"/>
                </a:solidFill>
                <a:latin typeface="Lato" pitchFamily="34" charset="0"/>
                <a:ea typeface="Lato" pitchFamily="34" charset="-122"/>
                <a:cs typeface="Lato" pitchFamily="34" charset="-120"/>
              </a:rPr>
              <a:t>Complexity:</a:t>
            </a:r>
            <a:r>
              <a:rPr lang="en-US" sz="1600" dirty="0">
                <a:solidFill>
                  <a:srgbClr val="4A4A45"/>
                </a:solidFill>
                <a:latin typeface="Lato" pitchFamily="34" charset="0"/>
                <a:ea typeface="Lato" pitchFamily="34" charset="-122"/>
                <a:cs typeface="Lato" pitchFamily="34" charset="-120"/>
              </a:rPr>
              <a:t> Medium, standard hardware.</a:t>
            </a:r>
            <a:endParaRPr lang="en-US" sz="1600" dirty="0"/>
          </a:p>
        </p:txBody>
      </p:sp>
      <p:sp>
        <p:nvSpPr>
          <p:cNvPr id="32" name="Text 30"/>
          <p:cNvSpPr/>
          <p:nvPr/>
        </p:nvSpPr>
        <p:spPr>
          <a:xfrm>
            <a:off x="7576542" y="7086243"/>
            <a:ext cx="6328291" cy="332899"/>
          </a:xfrm>
          <a:prstGeom prst="rect">
            <a:avLst/>
          </a:prstGeom>
          <a:noFill/>
          <a:ln/>
        </p:spPr>
        <p:txBody>
          <a:bodyPr wrap="none" lIns="0" tIns="0" rIns="0" bIns="0" rtlCol="0" anchor="t"/>
          <a:lstStyle/>
          <a:p>
            <a:pPr marL="342900" indent="-342900" algn="l">
              <a:lnSpc>
                <a:spcPts val="2600"/>
              </a:lnSpc>
              <a:buSzPct val="100000"/>
              <a:buChar char="•"/>
            </a:pPr>
            <a:r>
              <a:rPr lang="en-US" sz="1600" b="1" dirty="0">
                <a:solidFill>
                  <a:srgbClr val="4A4A45"/>
                </a:solidFill>
                <a:latin typeface="Lato" pitchFamily="34" charset="0"/>
                <a:ea typeface="Lato" pitchFamily="34" charset="-122"/>
                <a:cs typeface="Lato" pitchFamily="34" charset="-120"/>
              </a:rPr>
              <a:t>Data Needed:</a:t>
            </a:r>
            <a:r>
              <a:rPr lang="en-US" sz="1600" dirty="0">
                <a:solidFill>
                  <a:srgbClr val="4A4A45"/>
                </a:solidFill>
                <a:latin typeface="Lato" pitchFamily="34" charset="0"/>
                <a:ea typeface="Lato" pitchFamily="34" charset="-122"/>
                <a:cs typeface="Lato" pitchFamily="34" charset="-120"/>
              </a:rPr>
              <a:t> Original + domain labels only.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898458" y="385048"/>
            <a:ext cx="8833366" cy="872728"/>
          </a:xfrm>
          <a:prstGeom prst="rect">
            <a:avLst/>
          </a:prstGeom>
          <a:noFill/>
          <a:ln/>
        </p:spPr>
        <p:txBody>
          <a:bodyPr wrap="square" lIns="0" tIns="0" rIns="0" bIns="0" rtlCol="0" anchor="t"/>
          <a:lstStyle/>
          <a:p>
            <a:pPr marL="0" indent="0" algn="l">
              <a:lnSpc>
                <a:spcPts val="3400"/>
              </a:lnSpc>
              <a:buNone/>
            </a:pPr>
            <a:r>
              <a:rPr lang="en-US" sz="2700" b="1" dirty="0">
                <a:solidFill>
                  <a:srgbClr val="282824"/>
                </a:solidFill>
                <a:latin typeface="Lato Bold" pitchFamily="34" charset="0"/>
                <a:ea typeface="Lato Bold" pitchFamily="34" charset="-122"/>
                <a:cs typeface="Lato Bold" pitchFamily="34" charset="-120"/>
              </a:rPr>
              <a:t>Predicted Results: DANN-ViT Outperforms in Real-World Scenarios</a:t>
            </a:r>
            <a:endParaRPr lang="en-US" sz="2700" dirty="0"/>
          </a:p>
        </p:txBody>
      </p:sp>
      <p:sp>
        <p:nvSpPr>
          <p:cNvPr id="3" name="Shape 1"/>
          <p:cNvSpPr/>
          <p:nvPr/>
        </p:nvSpPr>
        <p:spPr>
          <a:xfrm>
            <a:off x="2898458" y="1536978"/>
            <a:ext cx="8833366" cy="5334000"/>
          </a:xfrm>
          <a:prstGeom prst="roundRect">
            <a:avLst>
              <a:gd name="adj" fmla="val 393"/>
            </a:avLst>
          </a:prstGeom>
          <a:noFill/>
          <a:ln w="7620">
            <a:solidFill>
              <a:srgbClr val="000000">
                <a:alpha val="8000"/>
              </a:srgbClr>
            </a:solidFill>
            <a:prstDash val="solid"/>
          </a:ln>
        </p:spPr>
        <p:txBody>
          <a:bodyPr/>
          <a:lstStyle/>
          <a:p>
            <a:endParaRPr lang="en-US"/>
          </a:p>
        </p:txBody>
      </p:sp>
      <p:sp>
        <p:nvSpPr>
          <p:cNvPr id="4" name="Shape 2"/>
          <p:cNvSpPr/>
          <p:nvPr/>
        </p:nvSpPr>
        <p:spPr>
          <a:xfrm>
            <a:off x="2906078" y="1544598"/>
            <a:ext cx="8818126" cy="406003"/>
          </a:xfrm>
          <a:prstGeom prst="rect">
            <a:avLst/>
          </a:prstGeom>
          <a:solidFill>
            <a:srgbClr val="FFFFFF">
              <a:alpha val="4000"/>
            </a:srgbClr>
          </a:solidFill>
          <a:ln/>
        </p:spPr>
        <p:txBody>
          <a:bodyPr/>
          <a:lstStyle/>
          <a:p>
            <a:endParaRPr lang="en-US"/>
          </a:p>
        </p:txBody>
      </p:sp>
      <p:sp>
        <p:nvSpPr>
          <p:cNvPr id="5" name="Text 3"/>
          <p:cNvSpPr/>
          <p:nvPr/>
        </p:nvSpPr>
        <p:spPr>
          <a:xfrm>
            <a:off x="3045857" y="1635919"/>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Metric</a:t>
            </a:r>
            <a:endParaRPr lang="en-US" sz="1050" dirty="0"/>
          </a:p>
        </p:txBody>
      </p:sp>
      <p:sp>
        <p:nvSpPr>
          <p:cNvPr id="6" name="Text 4"/>
          <p:cNvSpPr/>
          <p:nvPr/>
        </p:nvSpPr>
        <p:spPr>
          <a:xfrm>
            <a:off x="4813221" y="1635919"/>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Baseline</a:t>
            </a:r>
            <a:endParaRPr lang="en-US" sz="1050" dirty="0"/>
          </a:p>
        </p:txBody>
      </p:sp>
      <p:sp>
        <p:nvSpPr>
          <p:cNvPr id="7" name="Text 5"/>
          <p:cNvSpPr/>
          <p:nvPr/>
        </p:nvSpPr>
        <p:spPr>
          <a:xfrm>
            <a:off x="6576774" y="1635919"/>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(DANN)</a:t>
            </a:r>
            <a:endParaRPr lang="en-US" sz="1050" dirty="0"/>
          </a:p>
        </p:txBody>
      </p:sp>
      <p:sp>
        <p:nvSpPr>
          <p:cNvPr id="8" name="Text 6"/>
          <p:cNvSpPr/>
          <p:nvPr/>
        </p:nvSpPr>
        <p:spPr>
          <a:xfrm>
            <a:off x="8340328" y="1635919"/>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Winner</a:t>
            </a:r>
            <a:endParaRPr lang="en-US" sz="1050" dirty="0"/>
          </a:p>
        </p:txBody>
      </p:sp>
      <p:sp>
        <p:nvSpPr>
          <p:cNvPr id="9" name="Shape 7"/>
          <p:cNvSpPr/>
          <p:nvPr/>
        </p:nvSpPr>
        <p:spPr>
          <a:xfrm>
            <a:off x="2906078" y="1950601"/>
            <a:ext cx="8818126" cy="406003"/>
          </a:xfrm>
          <a:prstGeom prst="rect">
            <a:avLst/>
          </a:prstGeom>
          <a:solidFill>
            <a:srgbClr val="000000">
              <a:alpha val="4000"/>
            </a:srgbClr>
          </a:solidFill>
          <a:ln/>
        </p:spPr>
        <p:txBody>
          <a:bodyPr/>
          <a:lstStyle/>
          <a:p>
            <a:endParaRPr lang="en-US"/>
          </a:p>
        </p:txBody>
      </p:sp>
      <p:sp>
        <p:nvSpPr>
          <p:cNvPr id="10" name="Text 8"/>
          <p:cNvSpPr/>
          <p:nvPr/>
        </p:nvSpPr>
        <p:spPr>
          <a:xfrm>
            <a:off x="3045857" y="2041922"/>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In-Domain Accuracy</a:t>
            </a:r>
            <a:endParaRPr lang="en-US" sz="1050" dirty="0"/>
          </a:p>
        </p:txBody>
      </p:sp>
      <p:sp>
        <p:nvSpPr>
          <p:cNvPr id="11" name="Text 9"/>
          <p:cNvSpPr/>
          <p:nvPr/>
        </p:nvSpPr>
        <p:spPr>
          <a:xfrm>
            <a:off x="4813221" y="2041922"/>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100%</a:t>
            </a:r>
            <a:endParaRPr lang="en-US" sz="1050" dirty="0"/>
          </a:p>
        </p:txBody>
      </p:sp>
      <p:sp>
        <p:nvSpPr>
          <p:cNvPr id="12" name="Text 10"/>
          <p:cNvSpPr/>
          <p:nvPr/>
        </p:nvSpPr>
        <p:spPr>
          <a:xfrm>
            <a:off x="6576774" y="2041922"/>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98-99%</a:t>
            </a:r>
            <a:endParaRPr lang="en-US" sz="1050" dirty="0"/>
          </a:p>
        </p:txBody>
      </p:sp>
      <p:sp>
        <p:nvSpPr>
          <p:cNvPr id="13" name="Text 11"/>
          <p:cNvSpPr/>
          <p:nvPr/>
        </p:nvSpPr>
        <p:spPr>
          <a:xfrm>
            <a:off x="8340328" y="2041922"/>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Baseline ✓</a:t>
            </a:r>
            <a:endParaRPr lang="en-US" sz="1050" dirty="0"/>
          </a:p>
        </p:txBody>
      </p:sp>
      <p:sp>
        <p:nvSpPr>
          <p:cNvPr id="14" name="Shape 12"/>
          <p:cNvSpPr/>
          <p:nvPr/>
        </p:nvSpPr>
        <p:spPr>
          <a:xfrm>
            <a:off x="2906078" y="2356604"/>
            <a:ext cx="8818126" cy="406003"/>
          </a:xfrm>
          <a:prstGeom prst="rect">
            <a:avLst/>
          </a:prstGeom>
          <a:solidFill>
            <a:srgbClr val="FFFFFF">
              <a:alpha val="4000"/>
            </a:srgbClr>
          </a:solidFill>
          <a:ln/>
        </p:spPr>
        <p:txBody>
          <a:bodyPr/>
          <a:lstStyle/>
          <a:p>
            <a:endParaRPr lang="en-US"/>
          </a:p>
        </p:txBody>
      </p:sp>
      <p:sp>
        <p:nvSpPr>
          <p:cNvPr id="15" name="Text 13"/>
          <p:cNvSpPr/>
          <p:nvPr/>
        </p:nvSpPr>
        <p:spPr>
          <a:xfrm>
            <a:off x="3045857" y="2447925"/>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Out-of-Domain Acc</a:t>
            </a:r>
            <a:endParaRPr lang="en-US" sz="1050" dirty="0"/>
          </a:p>
        </p:txBody>
      </p:sp>
      <p:sp>
        <p:nvSpPr>
          <p:cNvPr id="16" name="Text 14"/>
          <p:cNvSpPr/>
          <p:nvPr/>
        </p:nvSpPr>
        <p:spPr>
          <a:xfrm>
            <a:off x="4813221" y="2447925"/>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~75% (est.)</a:t>
            </a:r>
            <a:endParaRPr lang="en-US" sz="1050" dirty="0"/>
          </a:p>
        </p:txBody>
      </p:sp>
      <p:sp>
        <p:nvSpPr>
          <p:cNvPr id="17" name="Text 15"/>
          <p:cNvSpPr/>
          <p:nvPr/>
        </p:nvSpPr>
        <p:spPr>
          <a:xfrm>
            <a:off x="6576774" y="2447925"/>
            <a:ext cx="1476851" cy="223361"/>
          </a:xfrm>
          <a:prstGeom prst="rect">
            <a:avLst/>
          </a:prstGeom>
          <a:noFill/>
          <a:ln/>
        </p:spPr>
        <p:txBody>
          <a:bodyPr wrap="none" lIns="0" tIns="0" rIns="0" bIns="0" rtlCol="0" anchor="t"/>
          <a:lstStyle/>
          <a:p>
            <a:pPr marL="0" indent="0" algn="l">
              <a:lnSpc>
                <a:spcPts val="1750"/>
              </a:lnSpc>
              <a:buNone/>
            </a:pPr>
            <a:r>
              <a:rPr lang="en-US" sz="1050" b="1" dirty="0">
                <a:solidFill>
                  <a:srgbClr val="4A4A45"/>
                </a:solidFill>
                <a:latin typeface="Lato" pitchFamily="34" charset="0"/>
                <a:ea typeface="Lato" pitchFamily="34" charset="-122"/>
                <a:cs typeface="Lato" pitchFamily="34" charset="-120"/>
              </a:rPr>
              <a:t>~82-85%</a:t>
            </a:r>
            <a:endParaRPr lang="en-US" sz="1050" dirty="0"/>
          </a:p>
        </p:txBody>
      </p:sp>
      <p:sp>
        <p:nvSpPr>
          <p:cNvPr id="18" name="Text 16"/>
          <p:cNvSpPr/>
          <p:nvPr/>
        </p:nvSpPr>
        <p:spPr>
          <a:xfrm>
            <a:off x="8340328" y="2447925"/>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a:t>
            </a:r>
            <a:endParaRPr lang="en-US" sz="1050" dirty="0"/>
          </a:p>
        </p:txBody>
      </p:sp>
      <p:sp>
        <p:nvSpPr>
          <p:cNvPr id="19" name="Shape 17"/>
          <p:cNvSpPr/>
          <p:nvPr/>
        </p:nvSpPr>
        <p:spPr>
          <a:xfrm>
            <a:off x="2906078" y="2762607"/>
            <a:ext cx="8818126" cy="629364"/>
          </a:xfrm>
          <a:prstGeom prst="rect">
            <a:avLst/>
          </a:prstGeom>
          <a:solidFill>
            <a:srgbClr val="000000">
              <a:alpha val="4000"/>
            </a:srgbClr>
          </a:solidFill>
          <a:ln/>
        </p:spPr>
        <p:txBody>
          <a:bodyPr/>
          <a:lstStyle/>
          <a:p>
            <a:endParaRPr lang="en-US"/>
          </a:p>
        </p:txBody>
      </p:sp>
      <p:sp>
        <p:nvSpPr>
          <p:cNvPr id="20" name="Text 18"/>
          <p:cNvSpPr/>
          <p:nvPr/>
        </p:nvSpPr>
        <p:spPr>
          <a:xfrm>
            <a:off x="3045857" y="2853928"/>
            <a:ext cx="1480661" cy="446723"/>
          </a:xfrm>
          <a:prstGeom prst="rect">
            <a:avLst/>
          </a:prstGeom>
          <a:noFill/>
          <a:ln/>
        </p:spPr>
        <p:txBody>
          <a:bodyPr wrap="squar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Cross-Domain Robustness</a:t>
            </a:r>
            <a:endParaRPr lang="en-US" sz="1050" dirty="0"/>
          </a:p>
        </p:txBody>
      </p:sp>
      <p:sp>
        <p:nvSpPr>
          <p:cNvPr id="21" name="Text 19"/>
          <p:cNvSpPr/>
          <p:nvPr/>
        </p:nvSpPr>
        <p:spPr>
          <a:xfrm>
            <a:off x="4813221" y="2853928"/>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75%</a:t>
            </a:r>
            <a:endParaRPr lang="en-US" sz="1050" dirty="0"/>
          </a:p>
        </p:txBody>
      </p:sp>
      <p:sp>
        <p:nvSpPr>
          <p:cNvPr id="22" name="Text 20"/>
          <p:cNvSpPr/>
          <p:nvPr/>
        </p:nvSpPr>
        <p:spPr>
          <a:xfrm>
            <a:off x="6576774" y="2853928"/>
            <a:ext cx="1476851" cy="223361"/>
          </a:xfrm>
          <a:prstGeom prst="rect">
            <a:avLst/>
          </a:prstGeom>
          <a:noFill/>
          <a:ln/>
        </p:spPr>
        <p:txBody>
          <a:bodyPr wrap="none" lIns="0" tIns="0" rIns="0" bIns="0" rtlCol="0" anchor="t"/>
          <a:lstStyle/>
          <a:p>
            <a:pPr marL="0" indent="0" algn="l">
              <a:lnSpc>
                <a:spcPts val="1750"/>
              </a:lnSpc>
              <a:buNone/>
            </a:pPr>
            <a:r>
              <a:rPr lang="en-US" sz="1050" b="1" dirty="0">
                <a:solidFill>
                  <a:srgbClr val="4A4A45"/>
                </a:solidFill>
                <a:latin typeface="Lato" pitchFamily="34" charset="0"/>
                <a:ea typeface="Lato" pitchFamily="34" charset="-122"/>
                <a:cs typeface="Lato" pitchFamily="34" charset="-120"/>
              </a:rPr>
              <a:t>85%</a:t>
            </a:r>
            <a:endParaRPr lang="en-US" sz="1050" dirty="0"/>
          </a:p>
        </p:txBody>
      </p:sp>
      <p:sp>
        <p:nvSpPr>
          <p:cNvPr id="23" name="Text 21"/>
          <p:cNvSpPr/>
          <p:nvPr/>
        </p:nvSpPr>
        <p:spPr>
          <a:xfrm>
            <a:off x="8340328" y="2853928"/>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a:t>
            </a:r>
            <a:endParaRPr lang="en-US" sz="1050" dirty="0"/>
          </a:p>
        </p:txBody>
      </p:sp>
      <p:sp>
        <p:nvSpPr>
          <p:cNvPr id="24" name="Shape 22"/>
          <p:cNvSpPr/>
          <p:nvPr/>
        </p:nvSpPr>
        <p:spPr>
          <a:xfrm>
            <a:off x="2906078" y="3391972"/>
            <a:ext cx="8818126" cy="406003"/>
          </a:xfrm>
          <a:prstGeom prst="rect">
            <a:avLst/>
          </a:prstGeom>
          <a:solidFill>
            <a:srgbClr val="FFFFFF">
              <a:alpha val="4000"/>
            </a:srgbClr>
          </a:solidFill>
          <a:ln/>
        </p:spPr>
        <p:txBody>
          <a:bodyPr/>
          <a:lstStyle/>
          <a:p>
            <a:endParaRPr lang="en-US"/>
          </a:p>
        </p:txBody>
      </p:sp>
      <p:sp>
        <p:nvSpPr>
          <p:cNvPr id="25" name="Text 23"/>
          <p:cNvSpPr/>
          <p:nvPr/>
        </p:nvSpPr>
        <p:spPr>
          <a:xfrm>
            <a:off x="3045857" y="3483293"/>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Training Time</a:t>
            </a:r>
            <a:endParaRPr lang="en-US" sz="1050" dirty="0"/>
          </a:p>
        </p:txBody>
      </p:sp>
      <p:sp>
        <p:nvSpPr>
          <p:cNvPr id="26" name="Text 24"/>
          <p:cNvSpPr/>
          <p:nvPr/>
        </p:nvSpPr>
        <p:spPr>
          <a:xfrm>
            <a:off x="4813221" y="3483293"/>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60 hours</a:t>
            </a:r>
            <a:endParaRPr lang="en-US" sz="1050" dirty="0"/>
          </a:p>
        </p:txBody>
      </p:sp>
      <p:sp>
        <p:nvSpPr>
          <p:cNvPr id="27" name="Text 25"/>
          <p:cNvSpPr/>
          <p:nvPr/>
        </p:nvSpPr>
        <p:spPr>
          <a:xfrm>
            <a:off x="6576774" y="3483293"/>
            <a:ext cx="1476851" cy="223361"/>
          </a:xfrm>
          <a:prstGeom prst="rect">
            <a:avLst/>
          </a:prstGeom>
          <a:noFill/>
          <a:ln/>
        </p:spPr>
        <p:txBody>
          <a:bodyPr wrap="none" lIns="0" tIns="0" rIns="0" bIns="0" rtlCol="0" anchor="t"/>
          <a:lstStyle/>
          <a:p>
            <a:pPr marL="0" indent="0" algn="l">
              <a:lnSpc>
                <a:spcPts val="1750"/>
              </a:lnSpc>
              <a:buNone/>
            </a:pPr>
            <a:r>
              <a:rPr lang="en-US" sz="1050" b="1" dirty="0">
                <a:solidFill>
                  <a:srgbClr val="4A4A45"/>
                </a:solidFill>
                <a:latin typeface="Lato" pitchFamily="34" charset="0"/>
                <a:ea typeface="Lato" pitchFamily="34" charset="-122"/>
                <a:cs typeface="Lato" pitchFamily="34" charset="-120"/>
              </a:rPr>
              <a:t>3 hours</a:t>
            </a:r>
            <a:endParaRPr lang="en-US" sz="1050" dirty="0"/>
          </a:p>
        </p:txBody>
      </p:sp>
      <p:sp>
        <p:nvSpPr>
          <p:cNvPr id="28" name="Text 26"/>
          <p:cNvSpPr/>
          <p:nvPr/>
        </p:nvSpPr>
        <p:spPr>
          <a:xfrm>
            <a:off x="8340328" y="3483293"/>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 (20×)</a:t>
            </a:r>
            <a:endParaRPr lang="en-US" sz="1050" dirty="0"/>
          </a:p>
        </p:txBody>
      </p:sp>
      <p:sp>
        <p:nvSpPr>
          <p:cNvPr id="29" name="Shape 27"/>
          <p:cNvSpPr/>
          <p:nvPr/>
        </p:nvSpPr>
        <p:spPr>
          <a:xfrm>
            <a:off x="2906078" y="3797975"/>
            <a:ext cx="8818126" cy="406003"/>
          </a:xfrm>
          <a:prstGeom prst="rect">
            <a:avLst/>
          </a:prstGeom>
          <a:solidFill>
            <a:srgbClr val="000000">
              <a:alpha val="4000"/>
            </a:srgbClr>
          </a:solidFill>
          <a:ln/>
        </p:spPr>
        <p:txBody>
          <a:bodyPr/>
          <a:lstStyle/>
          <a:p>
            <a:endParaRPr lang="en-US"/>
          </a:p>
        </p:txBody>
      </p:sp>
      <p:sp>
        <p:nvSpPr>
          <p:cNvPr id="30" name="Text 28"/>
          <p:cNvSpPr/>
          <p:nvPr/>
        </p:nvSpPr>
        <p:spPr>
          <a:xfrm>
            <a:off x="3045857" y="3889296"/>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Hardware Cost</a:t>
            </a:r>
            <a:endParaRPr lang="en-US" sz="1050" dirty="0"/>
          </a:p>
        </p:txBody>
      </p:sp>
      <p:sp>
        <p:nvSpPr>
          <p:cNvPr id="31" name="Text 29"/>
          <p:cNvSpPr/>
          <p:nvPr/>
        </p:nvSpPr>
        <p:spPr>
          <a:xfrm>
            <a:off x="4813221" y="3889296"/>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High (3090)</a:t>
            </a:r>
            <a:endParaRPr lang="en-US" sz="1050" dirty="0"/>
          </a:p>
        </p:txBody>
      </p:sp>
      <p:sp>
        <p:nvSpPr>
          <p:cNvPr id="32" name="Text 30"/>
          <p:cNvSpPr/>
          <p:nvPr/>
        </p:nvSpPr>
        <p:spPr>
          <a:xfrm>
            <a:off x="6576774" y="3889296"/>
            <a:ext cx="1476851" cy="223361"/>
          </a:xfrm>
          <a:prstGeom prst="rect">
            <a:avLst/>
          </a:prstGeom>
          <a:noFill/>
          <a:ln/>
        </p:spPr>
        <p:txBody>
          <a:bodyPr wrap="none" lIns="0" tIns="0" rIns="0" bIns="0" rtlCol="0" anchor="t"/>
          <a:lstStyle/>
          <a:p>
            <a:pPr marL="0" indent="0" algn="l">
              <a:lnSpc>
                <a:spcPts val="1750"/>
              </a:lnSpc>
              <a:buNone/>
            </a:pPr>
            <a:r>
              <a:rPr lang="en-US" sz="1050" b="1" dirty="0">
                <a:solidFill>
                  <a:srgbClr val="4A4A45"/>
                </a:solidFill>
                <a:latin typeface="Lato" pitchFamily="34" charset="0"/>
                <a:ea typeface="Lato" pitchFamily="34" charset="-122"/>
                <a:cs typeface="Lato" pitchFamily="34" charset="-120"/>
              </a:rPr>
              <a:t>Medium (3080)</a:t>
            </a:r>
            <a:endParaRPr lang="en-US" sz="1050" dirty="0"/>
          </a:p>
        </p:txBody>
      </p:sp>
      <p:sp>
        <p:nvSpPr>
          <p:cNvPr id="33" name="Text 31"/>
          <p:cNvSpPr/>
          <p:nvPr/>
        </p:nvSpPr>
        <p:spPr>
          <a:xfrm>
            <a:off x="8340328" y="3889296"/>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a:t>
            </a:r>
            <a:endParaRPr lang="en-US" sz="1050" dirty="0"/>
          </a:p>
        </p:txBody>
      </p:sp>
      <p:sp>
        <p:nvSpPr>
          <p:cNvPr id="34" name="Shape 32"/>
          <p:cNvSpPr/>
          <p:nvPr/>
        </p:nvSpPr>
        <p:spPr>
          <a:xfrm>
            <a:off x="2906078" y="4203978"/>
            <a:ext cx="8818126" cy="406003"/>
          </a:xfrm>
          <a:prstGeom prst="rect">
            <a:avLst/>
          </a:prstGeom>
          <a:solidFill>
            <a:srgbClr val="FFFFFF">
              <a:alpha val="4000"/>
            </a:srgbClr>
          </a:solidFill>
          <a:ln/>
        </p:spPr>
        <p:txBody>
          <a:bodyPr/>
          <a:lstStyle/>
          <a:p>
            <a:endParaRPr lang="en-US"/>
          </a:p>
        </p:txBody>
      </p:sp>
      <p:sp>
        <p:nvSpPr>
          <p:cNvPr id="35" name="Text 33"/>
          <p:cNvSpPr/>
          <p:nvPr/>
        </p:nvSpPr>
        <p:spPr>
          <a:xfrm>
            <a:off x="3045857" y="4295299"/>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Inference Speed</a:t>
            </a:r>
            <a:endParaRPr lang="en-US" sz="1050" dirty="0"/>
          </a:p>
        </p:txBody>
      </p:sp>
      <p:sp>
        <p:nvSpPr>
          <p:cNvPr id="36" name="Text 34"/>
          <p:cNvSpPr/>
          <p:nvPr/>
        </p:nvSpPr>
        <p:spPr>
          <a:xfrm>
            <a:off x="4813221" y="4295299"/>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10ms</a:t>
            </a:r>
            <a:endParaRPr lang="en-US" sz="1050" dirty="0"/>
          </a:p>
        </p:txBody>
      </p:sp>
      <p:sp>
        <p:nvSpPr>
          <p:cNvPr id="37" name="Text 35"/>
          <p:cNvSpPr/>
          <p:nvPr/>
        </p:nvSpPr>
        <p:spPr>
          <a:xfrm>
            <a:off x="6576774" y="4295299"/>
            <a:ext cx="1476851" cy="223361"/>
          </a:xfrm>
          <a:prstGeom prst="rect">
            <a:avLst/>
          </a:prstGeom>
          <a:noFill/>
          <a:ln/>
        </p:spPr>
        <p:txBody>
          <a:bodyPr wrap="none" lIns="0" tIns="0" rIns="0" bIns="0" rtlCol="0" anchor="t"/>
          <a:lstStyle/>
          <a:p>
            <a:pPr marL="0" indent="0" algn="l">
              <a:lnSpc>
                <a:spcPts val="1750"/>
              </a:lnSpc>
              <a:buNone/>
            </a:pPr>
            <a:r>
              <a:rPr lang="en-US" sz="1050" b="1" dirty="0">
                <a:solidFill>
                  <a:srgbClr val="4A4A45"/>
                </a:solidFill>
                <a:latin typeface="Lato" pitchFamily="34" charset="0"/>
                <a:ea typeface="Lato" pitchFamily="34" charset="-122"/>
                <a:cs typeface="Lato" pitchFamily="34" charset="-120"/>
              </a:rPr>
              <a:t>8ms</a:t>
            </a:r>
            <a:endParaRPr lang="en-US" sz="1050" dirty="0"/>
          </a:p>
        </p:txBody>
      </p:sp>
      <p:sp>
        <p:nvSpPr>
          <p:cNvPr id="38" name="Text 36"/>
          <p:cNvSpPr/>
          <p:nvPr/>
        </p:nvSpPr>
        <p:spPr>
          <a:xfrm>
            <a:off x="8340328" y="4295299"/>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a:t>
            </a:r>
            <a:endParaRPr lang="en-US" sz="1050" dirty="0"/>
          </a:p>
        </p:txBody>
      </p:sp>
      <p:sp>
        <p:nvSpPr>
          <p:cNvPr id="39" name="Shape 37"/>
          <p:cNvSpPr/>
          <p:nvPr/>
        </p:nvSpPr>
        <p:spPr>
          <a:xfrm>
            <a:off x="2906078" y="4609981"/>
            <a:ext cx="8818126" cy="406003"/>
          </a:xfrm>
          <a:prstGeom prst="rect">
            <a:avLst/>
          </a:prstGeom>
          <a:solidFill>
            <a:srgbClr val="000000">
              <a:alpha val="4000"/>
            </a:srgbClr>
          </a:solidFill>
          <a:ln/>
        </p:spPr>
        <p:txBody>
          <a:bodyPr/>
          <a:lstStyle/>
          <a:p>
            <a:endParaRPr lang="en-US"/>
          </a:p>
        </p:txBody>
      </p:sp>
      <p:sp>
        <p:nvSpPr>
          <p:cNvPr id="40" name="Text 38"/>
          <p:cNvSpPr/>
          <p:nvPr/>
        </p:nvSpPr>
        <p:spPr>
          <a:xfrm>
            <a:off x="3045857" y="4701302"/>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Model Size</a:t>
            </a:r>
            <a:endParaRPr lang="en-US" sz="1050" dirty="0"/>
          </a:p>
        </p:txBody>
      </p:sp>
      <p:sp>
        <p:nvSpPr>
          <p:cNvPr id="41" name="Text 39"/>
          <p:cNvSpPr/>
          <p:nvPr/>
        </p:nvSpPr>
        <p:spPr>
          <a:xfrm>
            <a:off x="4813221" y="4701302"/>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450MB</a:t>
            </a:r>
            <a:endParaRPr lang="en-US" sz="1050" dirty="0"/>
          </a:p>
        </p:txBody>
      </p:sp>
      <p:sp>
        <p:nvSpPr>
          <p:cNvPr id="42" name="Text 40"/>
          <p:cNvSpPr/>
          <p:nvPr/>
        </p:nvSpPr>
        <p:spPr>
          <a:xfrm>
            <a:off x="6576774" y="4701302"/>
            <a:ext cx="1476851" cy="223361"/>
          </a:xfrm>
          <a:prstGeom prst="rect">
            <a:avLst/>
          </a:prstGeom>
          <a:noFill/>
          <a:ln/>
        </p:spPr>
        <p:txBody>
          <a:bodyPr wrap="none" lIns="0" tIns="0" rIns="0" bIns="0" rtlCol="0" anchor="t"/>
          <a:lstStyle/>
          <a:p>
            <a:pPr marL="0" indent="0" algn="l">
              <a:lnSpc>
                <a:spcPts val="1750"/>
              </a:lnSpc>
              <a:buNone/>
            </a:pPr>
            <a:r>
              <a:rPr lang="en-US" sz="1050" b="1" dirty="0">
                <a:solidFill>
                  <a:srgbClr val="4A4A45"/>
                </a:solidFill>
                <a:latin typeface="Lato" pitchFamily="34" charset="0"/>
                <a:ea typeface="Lato" pitchFamily="34" charset="-122"/>
                <a:cs typeface="Lato" pitchFamily="34" charset="-120"/>
              </a:rPr>
              <a:t>250MB</a:t>
            </a:r>
            <a:endParaRPr lang="en-US" sz="1050" dirty="0"/>
          </a:p>
        </p:txBody>
      </p:sp>
      <p:sp>
        <p:nvSpPr>
          <p:cNvPr id="43" name="Text 41"/>
          <p:cNvSpPr/>
          <p:nvPr/>
        </p:nvSpPr>
        <p:spPr>
          <a:xfrm>
            <a:off x="8340328" y="4701302"/>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a:t>
            </a:r>
            <a:endParaRPr lang="en-US" sz="1050" dirty="0"/>
          </a:p>
        </p:txBody>
      </p:sp>
      <p:sp>
        <p:nvSpPr>
          <p:cNvPr id="44" name="Shape 42"/>
          <p:cNvSpPr/>
          <p:nvPr/>
        </p:nvSpPr>
        <p:spPr>
          <a:xfrm>
            <a:off x="2906078" y="5015984"/>
            <a:ext cx="8818126" cy="629364"/>
          </a:xfrm>
          <a:prstGeom prst="rect">
            <a:avLst/>
          </a:prstGeom>
          <a:solidFill>
            <a:srgbClr val="FFFFFF">
              <a:alpha val="4000"/>
            </a:srgbClr>
          </a:solidFill>
          <a:ln/>
        </p:spPr>
        <p:txBody>
          <a:bodyPr/>
          <a:lstStyle/>
          <a:p>
            <a:endParaRPr lang="en-US"/>
          </a:p>
        </p:txBody>
      </p:sp>
      <p:sp>
        <p:nvSpPr>
          <p:cNvPr id="45" name="Text 43"/>
          <p:cNvSpPr/>
          <p:nvPr/>
        </p:nvSpPr>
        <p:spPr>
          <a:xfrm>
            <a:off x="3045857" y="5107305"/>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Explainability</a:t>
            </a:r>
            <a:endParaRPr lang="en-US" sz="1050" dirty="0"/>
          </a:p>
        </p:txBody>
      </p:sp>
      <p:sp>
        <p:nvSpPr>
          <p:cNvPr id="46" name="Text 44"/>
          <p:cNvSpPr/>
          <p:nvPr/>
        </p:nvSpPr>
        <p:spPr>
          <a:xfrm>
            <a:off x="4813221" y="5107305"/>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None</a:t>
            </a:r>
            <a:endParaRPr lang="en-US" sz="1050" dirty="0"/>
          </a:p>
        </p:txBody>
      </p:sp>
      <p:sp>
        <p:nvSpPr>
          <p:cNvPr id="47" name="Text 45"/>
          <p:cNvSpPr/>
          <p:nvPr/>
        </p:nvSpPr>
        <p:spPr>
          <a:xfrm>
            <a:off x="6576774" y="5107305"/>
            <a:ext cx="1476851" cy="446723"/>
          </a:xfrm>
          <a:prstGeom prst="rect">
            <a:avLst/>
          </a:prstGeom>
          <a:noFill/>
          <a:ln/>
        </p:spPr>
        <p:txBody>
          <a:bodyPr wrap="square" lIns="0" tIns="0" rIns="0" bIns="0" rtlCol="0" anchor="t"/>
          <a:lstStyle/>
          <a:p>
            <a:pPr marL="0" indent="0" algn="l">
              <a:lnSpc>
                <a:spcPts val="1750"/>
              </a:lnSpc>
              <a:buNone/>
            </a:pPr>
            <a:r>
              <a:rPr lang="en-US" sz="1050" b="1" dirty="0">
                <a:solidFill>
                  <a:srgbClr val="4A4A45"/>
                </a:solidFill>
                <a:latin typeface="Lato" pitchFamily="34" charset="0"/>
                <a:ea typeface="Lato" pitchFamily="34" charset="-122"/>
                <a:cs typeface="Lato" pitchFamily="34" charset="-120"/>
              </a:rPr>
              <a:t>Attention + SHAP/LIME</a:t>
            </a:r>
            <a:endParaRPr lang="en-US" sz="1050" dirty="0"/>
          </a:p>
        </p:txBody>
      </p:sp>
      <p:sp>
        <p:nvSpPr>
          <p:cNvPr id="48" name="Text 46"/>
          <p:cNvSpPr/>
          <p:nvPr/>
        </p:nvSpPr>
        <p:spPr>
          <a:xfrm>
            <a:off x="8340328" y="5107305"/>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a:t>
            </a:r>
            <a:endParaRPr lang="en-US" sz="1050" dirty="0"/>
          </a:p>
        </p:txBody>
      </p:sp>
      <p:sp>
        <p:nvSpPr>
          <p:cNvPr id="49" name="Shape 47"/>
          <p:cNvSpPr/>
          <p:nvPr/>
        </p:nvSpPr>
        <p:spPr>
          <a:xfrm>
            <a:off x="2906078" y="5645348"/>
            <a:ext cx="8818126" cy="406003"/>
          </a:xfrm>
          <a:prstGeom prst="rect">
            <a:avLst/>
          </a:prstGeom>
          <a:solidFill>
            <a:srgbClr val="000000">
              <a:alpha val="4000"/>
            </a:srgbClr>
          </a:solidFill>
          <a:ln/>
        </p:spPr>
        <p:txBody>
          <a:bodyPr/>
          <a:lstStyle/>
          <a:p>
            <a:endParaRPr lang="en-US"/>
          </a:p>
        </p:txBody>
      </p:sp>
      <p:sp>
        <p:nvSpPr>
          <p:cNvPr id="50" name="Text 48"/>
          <p:cNvSpPr/>
          <p:nvPr/>
        </p:nvSpPr>
        <p:spPr>
          <a:xfrm>
            <a:off x="3045857" y="5736669"/>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Multi-level Freshness</a:t>
            </a:r>
            <a:endParaRPr lang="en-US" sz="1050" dirty="0"/>
          </a:p>
        </p:txBody>
      </p:sp>
      <p:sp>
        <p:nvSpPr>
          <p:cNvPr id="51" name="Text 49"/>
          <p:cNvSpPr/>
          <p:nvPr/>
        </p:nvSpPr>
        <p:spPr>
          <a:xfrm>
            <a:off x="4813221" y="5736669"/>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Binary only</a:t>
            </a:r>
            <a:endParaRPr lang="en-US" sz="1050" dirty="0"/>
          </a:p>
        </p:txBody>
      </p:sp>
      <p:sp>
        <p:nvSpPr>
          <p:cNvPr id="52" name="Text 50"/>
          <p:cNvSpPr/>
          <p:nvPr/>
        </p:nvSpPr>
        <p:spPr>
          <a:xfrm>
            <a:off x="6576774" y="5736669"/>
            <a:ext cx="1476851" cy="223361"/>
          </a:xfrm>
          <a:prstGeom prst="rect">
            <a:avLst/>
          </a:prstGeom>
          <a:noFill/>
          <a:ln/>
        </p:spPr>
        <p:txBody>
          <a:bodyPr wrap="none" lIns="0" tIns="0" rIns="0" bIns="0" rtlCol="0" anchor="t"/>
          <a:lstStyle/>
          <a:p>
            <a:pPr marL="0" indent="0" algn="l">
              <a:lnSpc>
                <a:spcPts val="1750"/>
              </a:lnSpc>
              <a:buNone/>
            </a:pPr>
            <a:r>
              <a:rPr lang="en-US" sz="1050" b="1" dirty="0">
                <a:solidFill>
                  <a:srgbClr val="4A4A45"/>
                </a:solidFill>
                <a:latin typeface="Lato" pitchFamily="34" charset="0"/>
                <a:ea typeface="Lato" pitchFamily="34" charset="-122"/>
                <a:cs typeface="Lato" pitchFamily="34" charset="-120"/>
              </a:rPr>
              <a:t>5-level</a:t>
            </a:r>
            <a:endParaRPr lang="en-US" sz="1050" dirty="0"/>
          </a:p>
        </p:txBody>
      </p:sp>
      <p:sp>
        <p:nvSpPr>
          <p:cNvPr id="53" name="Text 51"/>
          <p:cNvSpPr/>
          <p:nvPr/>
        </p:nvSpPr>
        <p:spPr>
          <a:xfrm>
            <a:off x="8340328" y="5736669"/>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a:t>
            </a:r>
            <a:endParaRPr lang="en-US" sz="1050" dirty="0"/>
          </a:p>
        </p:txBody>
      </p:sp>
      <p:sp>
        <p:nvSpPr>
          <p:cNvPr id="54" name="Shape 52"/>
          <p:cNvSpPr/>
          <p:nvPr/>
        </p:nvSpPr>
        <p:spPr>
          <a:xfrm>
            <a:off x="2906078" y="6051352"/>
            <a:ext cx="8818126" cy="406003"/>
          </a:xfrm>
          <a:prstGeom prst="rect">
            <a:avLst/>
          </a:prstGeom>
          <a:solidFill>
            <a:srgbClr val="FFFFFF">
              <a:alpha val="4000"/>
            </a:srgbClr>
          </a:solidFill>
          <a:ln/>
        </p:spPr>
        <p:txBody>
          <a:bodyPr/>
          <a:lstStyle/>
          <a:p>
            <a:endParaRPr lang="en-US"/>
          </a:p>
        </p:txBody>
      </p:sp>
      <p:sp>
        <p:nvSpPr>
          <p:cNvPr id="55" name="Text 53"/>
          <p:cNvSpPr/>
          <p:nvPr/>
        </p:nvSpPr>
        <p:spPr>
          <a:xfrm>
            <a:off x="3045857" y="6142673"/>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Edge Device Ready</a:t>
            </a:r>
            <a:endParaRPr lang="en-US" sz="1050" dirty="0"/>
          </a:p>
        </p:txBody>
      </p:sp>
      <p:sp>
        <p:nvSpPr>
          <p:cNvPr id="56" name="Text 54"/>
          <p:cNvSpPr/>
          <p:nvPr/>
        </p:nvSpPr>
        <p:spPr>
          <a:xfrm>
            <a:off x="4813221" y="6142673"/>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No</a:t>
            </a:r>
            <a:endParaRPr lang="en-US" sz="1050" dirty="0"/>
          </a:p>
        </p:txBody>
      </p:sp>
      <p:sp>
        <p:nvSpPr>
          <p:cNvPr id="57" name="Text 55"/>
          <p:cNvSpPr/>
          <p:nvPr/>
        </p:nvSpPr>
        <p:spPr>
          <a:xfrm>
            <a:off x="6576774" y="6142673"/>
            <a:ext cx="1476851" cy="223361"/>
          </a:xfrm>
          <a:prstGeom prst="rect">
            <a:avLst/>
          </a:prstGeom>
          <a:noFill/>
          <a:ln/>
        </p:spPr>
        <p:txBody>
          <a:bodyPr wrap="none" lIns="0" tIns="0" rIns="0" bIns="0" rtlCol="0" anchor="t"/>
          <a:lstStyle/>
          <a:p>
            <a:pPr marL="0" indent="0" algn="l">
              <a:lnSpc>
                <a:spcPts val="1750"/>
              </a:lnSpc>
              <a:buNone/>
            </a:pPr>
            <a:r>
              <a:rPr lang="en-US" sz="1050" b="1" dirty="0">
                <a:solidFill>
                  <a:srgbClr val="4A4A45"/>
                </a:solidFill>
                <a:latin typeface="Lato" pitchFamily="34" charset="0"/>
                <a:ea typeface="Lato" pitchFamily="34" charset="-122"/>
                <a:cs typeface="Lato" pitchFamily="34" charset="-120"/>
              </a:rPr>
              <a:t>Yes</a:t>
            </a:r>
            <a:endParaRPr lang="en-US" sz="1050" dirty="0"/>
          </a:p>
        </p:txBody>
      </p:sp>
      <p:sp>
        <p:nvSpPr>
          <p:cNvPr id="58" name="Text 56"/>
          <p:cNvSpPr/>
          <p:nvPr/>
        </p:nvSpPr>
        <p:spPr>
          <a:xfrm>
            <a:off x="8340328" y="6142673"/>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a:t>
            </a:r>
            <a:endParaRPr lang="en-US" sz="1050" dirty="0"/>
          </a:p>
        </p:txBody>
      </p:sp>
      <p:sp>
        <p:nvSpPr>
          <p:cNvPr id="59" name="Shape 57"/>
          <p:cNvSpPr/>
          <p:nvPr/>
        </p:nvSpPr>
        <p:spPr>
          <a:xfrm>
            <a:off x="2906078" y="6457355"/>
            <a:ext cx="8818126" cy="406003"/>
          </a:xfrm>
          <a:prstGeom prst="rect">
            <a:avLst/>
          </a:prstGeom>
          <a:solidFill>
            <a:srgbClr val="000000">
              <a:alpha val="4000"/>
            </a:srgbClr>
          </a:solidFill>
          <a:ln/>
        </p:spPr>
        <p:txBody>
          <a:bodyPr/>
          <a:lstStyle/>
          <a:p>
            <a:endParaRPr lang="en-US"/>
          </a:p>
        </p:txBody>
      </p:sp>
      <p:sp>
        <p:nvSpPr>
          <p:cNvPr id="60" name="Text 58"/>
          <p:cNvSpPr/>
          <p:nvPr/>
        </p:nvSpPr>
        <p:spPr>
          <a:xfrm>
            <a:off x="3045857" y="6548676"/>
            <a:ext cx="148066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Domain Adaptation</a:t>
            </a:r>
            <a:endParaRPr lang="en-US" sz="1050" dirty="0"/>
          </a:p>
        </p:txBody>
      </p:sp>
      <p:sp>
        <p:nvSpPr>
          <p:cNvPr id="61" name="Text 59"/>
          <p:cNvSpPr/>
          <p:nvPr/>
        </p:nvSpPr>
        <p:spPr>
          <a:xfrm>
            <a:off x="4813221" y="6548676"/>
            <a:ext cx="1476851"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None</a:t>
            </a:r>
            <a:endParaRPr lang="en-US" sz="1050" dirty="0"/>
          </a:p>
        </p:txBody>
      </p:sp>
      <p:sp>
        <p:nvSpPr>
          <p:cNvPr id="62" name="Text 60"/>
          <p:cNvSpPr/>
          <p:nvPr/>
        </p:nvSpPr>
        <p:spPr>
          <a:xfrm>
            <a:off x="6576774" y="6548676"/>
            <a:ext cx="1476851" cy="223361"/>
          </a:xfrm>
          <a:prstGeom prst="rect">
            <a:avLst/>
          </a:prstGeom>
          <a:noFill/>
          <a:ln/>
        </p:spPr>
        <p:txBody>
          <a:bodyPr wrap="none" lIns="0" tIns="0" rIns="0" bIns="0" rtlCol="0" anchor="t"/>
          <a:lstStyle/>
          <a:p>
            <a:pPr marL="0" indent="0" algn="l">
              <a:lnSpc>
                <a:spcPts val="1750"/>
              </a:lnSpc>
              <a:buNone/>
            </a:pPr>
            <a:r>
              <a:rPr lang="en-US" sz="1050" b="1" dirty="0">
                <a:solidFill>
                  <a:srgbClr val="4A4A45"/>
                </a:solidFill>
                <a:latin typeface="Lato" pitchFamily="34" charset="0"/>
                <a:ea typeface="Lato" pitchFamily="34" charset="-122"/>
                <a:cs typeface="Lato" pitchFamily="34" charset="-120"/>
              </a:rPr>
              <a:t>DANN</a:t>
            </a:r>
            <a:endParaRPr lang="en-US" sz="1050" dirty="0"/>
          </a:p>
        </p:txBody>
      </p:sp>
      <p:sp>
        <p:nvSpPr>
          <p:cNvPr id="63" name="Text 61"/>
          <p:cNvSpPr/>
          <p:nvPr/>
        </p:nvSpPr>
        <p:spPr>
          <a:xfrm>
            <a:off x="8340328" y="6548676"/>
            <a:ext cx="3244334" cy="223361"/>
          </a:xfrm>
          <a:prstGeom prst="rect">
            <a:avLst/>
          </a:prstGeom>
          <a:noFill/>
          <a:ln/>
        </p:spPr>
        <p:txBody>
          <a:bodyPr wrap="none" lIns="0" tIns="0" rIns="0" bIns="0" rtlCol="0" anchor="t"/>
          <a:lstStyle/>
          <a:p>
            <a:pPr marL="0" indent="0" algn="l">
              <a:lnSpc>
                <a:spcPts val="1750"/>
              </a:lnSpc>
              <a:buNone/>
            </a:pPr>
            <a:r>
              <a:rPr lang="en-US" sz="1050" dirty="0">
                <a:solidFill>
                  <a:srgbClr val="4A4A45"/>
                </a:solidFill>
                <a:latin typeface="Lato" pitchFamily="34" charset="0"/>
                <a:ea typeface="Lato" pitchFamily="34" charset="-122"/>
                <a:cs typeface="Lato" pitchFamily="34" charset="-120"/>
              </a:rPr>
              <a:t>Ours ✓✓</a:t>
            </a:r>
            <a:endParaRPr lang="en-US" sz="1050" dirty="0"/>
          </a:p>
        </p:txBody>
      </p:sp>
      <p:sp>
        <p:nvSpPr>
          <p:cNvPr id="64" name="Shape 62"/>
          <p:cNvSpPr/>
          <p:nvPr/>
        </p:nvSpPr>
        <p:spPr>
          <a:xfrm>
            <a:off x="2898458" y="7028021"/>
            <a:ext cx="8833366" cy="816531"/>
          </a:xfrm>
          <a:prstGeom prst="roundRect">
            <a:avLst>
              <a:gd name="adj" fmla="val 2566"/>
            </a:avLst>
          </a:prstGeom>
          <a:solidFill>
            <a:srgbClr val="DBDBD7"/>
          </a:solidFill>
          <a:ln/>
        </p:spPr>
        <p:txBody>
          <a:bodyPr/>
          <a:lstStyle/>
          <a:p>
            <a:endParaRPr lang="en-US"/>
          </a:p>
        </p:txBody>
      </p:sp>
      <p:pic>
        <p:nvPicPr>
          <p:cNvPr id="65" name="Image 0" descr="preencoded.png"/>
          <p:cNvPicPr>
            <a:picLocks noChangeAspect="1"/>
          </p:cNvPicPr>
          <p:nvPr/>
        </p:nvPicPr>
        <p:blipFill>
          <a:blip r:embed="rId3"/>
          <a:stretch>
            <a:fillRect/>
          </a:stretch>
        </p:blipFill>
        <p:spPr>
          <a:xfrm>
            <a:off x="3037999" y="7240310"/>
            <a:ext cx="174546" cy="139541"/>
          </a:xfrm>
          <a:prstGeom prst="rect">
            <a:avLst/>
          </a:prstGeom>
        </p:spPr>
      </p:pic>
      <p:sp>
        <p:nvSpPr>
          <p:cNvPr id="66" name="Text 63"/>
          <p:cNvSpPr/>
          <p:nvPr/>
        </p:nvSpPr>
        <p:spPr>
          <a:xfrm>
            <a:off x="3352086" y="7202448"/>
            <a:ext cx="8240197" cy="446723"/>
          </a:xfrm>
          <a:prstGeom prst="rect">
            <a:avLst/>
          </a:prstGeom>
          <a:noFill/>
          <a:ln/>
        </p:spPr>
        <p:txBody>
          <a:bodyPr wrap="square" lIns="0" tIns="0" rIns="0" bIns="0" rtlCol="0" anchor="t"/>
          <a:lstStyle/>
          <a:p>
            <a:pPr marL="0" indent="0" algn="l">
              <a:lnSpc>
                <a:spcPts val="1750"/>
              </a:lnSpc>
              <a:buNone/>
            </a:pPr>
            <a:r>
              <a:rPr lang="en-US" sz="1050" b="1" dirty="0">
                <a:solidFill>
                  <a:srgbClr val="000000"/>
                </a:solidFill>
                <a:latin typeface="Lato" pitchFamily="34" charset="0"/>
                <a:ea typeface="Lato" pitchFamily="34" charset="-122"/>
                <a:cs typeface="Lato" pitchFamily="34" charset="-120"/>
              </a:rPr>
              <a:t>Key Insight:</a:t>
            </a:r>
            <a:r>
              <a:rPr lang="en-US" sz="1050" dirty="0">
                <a:solidFill>
                  <a:srgbClr val="000000"/>
                </a:solidFill>
                <a:latin typeface="Lato" pitchFamily="34" charset="0"/>
                <a:ea typeface="Lato" pitchFamily="34" charset="-122"/>
                <a:cs typeface="Lato" pitchFamily="34" charset="-120"/>
              </a:rPr>
              <a:t> We strategically trade a minor 1-2% in-domain accuracy for a significant </a:t>
            </a:r>
            <a:r>
              <a:rPr lang="en-US" sz="1050" b="1" dirty="0">
                <a:solidFill>
                  <a:srgbClr val="000000"/>
                </a:solidFill>
                <a:latin typeface="Lato" pitchFamily="34" charset="0"/>
                <a:ea typeface="Lato" pitchFamily="34" charset="-122"/>
                <a:cs typeface="Lato" pitchFamily="34" charset="-120"/>
              </a:rPr>
              <a:t>10% better out-of-domain performance</a:t>
            </a:r>
            <a:r>
              <a:rPr lang="en-US" sz="1050" dirty="0">
                <a:solidFill>
                  <a:srgbClr val="000000"/>
                </a:solidFill>
                <a:latin typeface="Lato" pitchFamily="34" charset="0"/>
                <a:ea typeface="Lato" pitchFamily="34" charset="-122"/>
                <a:cs typeface="Lato" pitchFamily="34" charset="-120"/>
              </a:rPr>
              <a:t>, crucial for realistic deployment scenarios.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909" y="568643"/>
            <a:ext cx="10092809" cy="644366"/>
          </a:xfrm>
          <a:prstGeom prst="rect">
            <a:avLst/>
          </a:prstGeom>
          <a:noFill/>
          <a:ln/>
        </p:spPr>
        <p:txBody>
          <a:bodyPr wrap="none" lIns="0" tIns="0" rIns="0" bIns="0" rtlCol="0" anchor="t"/>
          <a:lstStyle/>
          <a:p>
            <a:pPr marL="0" indent="0" algn="l">
              <a:lnSpc>
                <a:spcPts val="5050"/>
              </a:lnSpc>
              <a:buNone/>
            </a:pPr>
            <a:r>
              <a:rPr lang="en-US" sz="4050" b="1" dirty="0">
                <a:solidFill>
                  <a:srgbClr val="282824"/>
                </a:solidFill>
                <a:latin typeface="Lato Bold" pitchFamily="34" charset="0"/>
                <a:ea typeface="Lato Bold" pitchFamily="34" charset="-122"/>
                <a:cs typeface="Lato Bold" pitchFamily="34" charset="-120"/>
              </a:rPr>
              <a:t>Advantages, Challenges &amp; Future Directions</a:t>
            </a:r>
            <a:endParaRPr lang="en-US" sz="4050" dirty="0"/>
          </a:p>
        </p:txBody>
      </p:sp>
      <p:sp>
        <p:nvSpPr>
          <p:cNvPr id="3" name="Text 1"/>
          <p:cNvSpPr/>
          <p:nvPr/>
        </p:nvSpPr>
        <p:spPr>
          <a:xfrm>
            <a:off x="793909" y="1728311"/>
            <a:ext cx="5531406" cy="515541"/>
          </a:xfrm>
          <a:prstGeom prst="rect">
            <a:avLst/>
          </a:prstGeom>
          <a:noFill/>
          <a:ln/>
        </p:spPr>
        <p:txBody>
          <a:bodyPr wrap="none" lIns="0" tIns="0" rIns="0" bIns="0" rtlCol="0" anchor="t"/>
          <a:lstStyle/>
          <a:p>
            <a:pPr marL="0" indent="0" algn="l">
              <a:lnSpc>
                <a:spcPts val="4050"/>
              </a:lnSpc>
              <a:buNone/>
            </a:pPr>
            <a:r>
              <a:rPr lang="en-US" sz="3200" b="1" dirty="0">
                <a:solidFill>
                  <a:srgbClr val="282824"/>
                </a:solidFill>
                <a:latin typeface="Lato Bold" pitchFamily="34" charset="0"/>
                <a:ea typeface="Lato Bold" pitchFamily="34" charset="-122"/>
                <a:cs typeface="Lato Bold" pitchFamily="34" charset="-120"/>
              </a:rPr>
              <a:t>Key Advantages over Baseline</a:t>
            </a:r>
            <a:endParaRPr lang="en-US" sz="3200" dirty="0"/>
          </a:p>
        </p:txBody>
      </p:sp>
      <p:sp>
        <p:nvSpPr>
          <p:cNvPr id="4" name="Shape 2"/>
          <p:cNvSpPr/>
          <p:nvPr/>
        </p:nvSpPr>
        <p:spPr>
          <a:xfrm>
            <a:off x="793909" y="2475786"/>
            <a:ext cx="463868" cy="463868"/>
          </a:xfrm>
          <a:prstGeom prst="roundRect">
            <a:avLst>
              <a:gd name="adj" fmla="val 6668"/>
            </a:avLst>
          </a:prstGeom>
          <a:solidFill>
            <a:srgbClr val="E5DFD2"/>
          </a:solidFill>
          <a:ln/>
        </p:spPr>
        <p:txBody>
          <a:bodyPr/>
          <a:lstStyle/>
          <a:p>
            <a:endParaRPr lang="en-US"/>
          </a:p>
        </p:txBody>
      </p:sp>
      <p:sp>
        <p:nvSpPr>
          <p:cNvPr id="5" name="Text 3"/>
          <p:cNvSpPr/>
          <p:nvPr/>
        </p:nvSpPr>
        <p:spPr>
          <a:xfrm>
            <a:off x="871240" y="2514421"/>
            <a:ext cx="309205" cy="386596"/>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1</a:t>
            </a:r>
            <a:endParaRPr lang="en-US" sz="2400" dirty="0"/>
          </a:p>
        </p:txBody>
      </p:sp>
      <p:sp>
        <p:nvSpPr>
          <p:cNvPr id="6" name="Text 4"/>
          <p:cNvSpPr/>
          <p:nvPr/>
        </p:nvSpPr>
        <p:spPr>
          <a:xfrm>
            <a:off x="1463873" y="2546628"/>
            <a:ext cx="2577584" cy="322183"/>
          </a:xfrm>
          <a:prstGeom prst="rect">
            <a:avLst/>
          </a:prstGeom>
          <a:noFill/>
          <a:ln/>
        </p:spPr>
        <p:txBody>
          <a:bodyPr wrap="none" lIns="0" tIns="0" rIns="0" bIns="0" rtlCol="0" anchor="t"/>
          <a:lstStyle/>
          <a:p>
            <a:pPr marL="0" indent="0" algn="l">
              <a:lnSpc>
                <a:spcPts val="2500"/>
              </a:lnSpc>
              <a:buNone/>
            </a:pPr>
            <a:r>
              <a:rPr lang="en-US" sz="2000" b="1" dirty="0">
                <a:solidFill>
                  <a:srgbClr val="4A4A45"/>
                </a:solidFill>
                <a:latin typeface="Lato Bold" pitchFamily="34" charset="0"/>
                <a:ea typeface="Lato Bold" pitchFamily="34" charset="-122"/>
                <a:cs typeface="Lato Bold" pitchFamily="34" charset="-120"/>
              </a:rPr>
              <a:t>Domain Robustness</a:t>
            </a:r>
            <a:endParaRPr lang="en-US" sz="2000" dirty="0"/>
          </a:p>
        </p:txBody>
      </p:sp>
      <p:sp>
        <p:nvSpPr>
          <p:cNvPr id="7" name="Text 5"/>
          <p:cNvSpPr/>
          <p:nvPr/>
        </p:nvSpPr>
        <p:spPr>
          <a:xfrm>
            <a:off x="1463873" y="3074908"/>
            <a:ext cx="5599867" cy="329922"/>
          </a:xfrm>
          <a:prstGeom prst="rect">
            <a:avLst/>
          </a:prstGeom>
          <a:noFill/>
          <a:ln/>
        </p:spPr>
        <p:txBody>
          <a:bodyPr wrap="none" lIns="0" tIns="0" rIns="0" bIns="0" rtlCol="0" anchor="t"/>
          <a:lstStyle/>
          <a:p>
            <a:pPr marL="0" indent="0" algn="l">
              <a:lnSpc>
                <a:spcPts val="2550"/>
              </a:lnSpc>
              <a:buNone/>
            </a:pPr>
            <a:endParaRPr lang="en-US" sz="1600" dirty="0"/>
          </a:p>
        </p:txBody>
      </p:sp>
      <p:sp>
        <p:nvSpPr>
          <p:cNvPr id="8" name="Shape 6"/>
          <p:cNvSpPr/>
          <p:nvPr/>
        </p:nvSpPr>
        <p:spPr>
          <a:xfrm>
            <a:off x="793909" y="3817144"/>
            <a:ext cx="463868" cy="463868"/>
          </a:xfrm>
          <a:prstGeom prst="roundRect">
            <a:avLst>
              <a:gd name="adj" fmla="val 6668"/>
            </a:avLst>
          </a:prstGeom>
          <a:solidFill>
            <a:srgbClr val="E5DFD2"/>
          </a:solidFill>
          <a:ln/>
        </p:spPr>
        <p:txBody>
          <a:bodyPr/>
          <a:lstStyle/>
          <a:p>
            <a:endParaRPr lang="en-US"/>
          </a:p>
        </p:txBody>
      </p:sp>
      <p:sp>
        <p:nvSpPr>
          <p:cNvPr id="9" name="Text 7"/>
          <p:cNvSpPr/>
          <p:nvPr/>
        </p:nvSpPr>
        <p:spPr>
          <a:xfrm>
            <a:off x="871240" y="3855780"/>
            <a:ext cx="309205" cy="386596"/>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2</a:t>
            </a:r>
            <a:endParaRPr lang="en-US" sz="2400" dirty="0"/>
          </a:p>
        </p:txBody>
      </p:sp>
      <p:sp>
        <p:nvSpPr>
          <p:cNvPr id="10" name="Text 8"/>
          <p:cNvSpPr/>
          <p:nvPr/>
        </p:nvSpPr>
        <p:spPr>
          <a:xfrm>
            <a:off x="1463873" y="3887986"/>
            <a:ext cx="2577584" cy="322183"/>
          </a:xfrm>
          <a:prstGeom prst="rect">
            <a:avLst/>
          </a:prstGeom>
          <a:noFill/>
          <a:ln/>
        </p:spPr>
        <p:txBody>
          <a:bodyPr wrap="none" lIns="0" tIns="0" rIns="0" bIns="0" rtlCol="0" anchor="t"/>
          <a:lstStyle/>
          <a:p>
            <a:pPr marL="0" indent="0" algn="l">
              <a:lnSpc>
                <a:spcPts val="2500"/>
              </a:lnSpc>
              <a:buNone/>
            </a:pPr>
            <a:r>
              <a:rPr lang="en-US" sz="2000" b="1" dirty="0">
                <a:solidFill>
                  <a:srgbClr val="4A4A45"/>
                </a:solidFill>
                <a:latin typeface="Lato Bold" pitchFamily="34" charset="0"/>
                <a:ea typeface="Lato Bold" pitchFamily="34" charset="-122"/>
                <a:cs typeface="Lato Bold" pitchFamily="34" charset="-120"/>
              </a:rPr>
              <a:t>Practical Deployment</a:t>
            </a:r>
            <a:endParaRPr lang="en-US" sz="2000" dirty="0"/>
          </a:p>
        </p:txBody>
      </p:sp>
      <p:sp>
        <p:nvSpPr>
          <p:cNvPr id="11" name="Text 9"/>
          <p:cNvSpPr/>
          <p:nvPr/>
        </p:nvSpPr>
        <p:spPr>
          <a:xfrm>
            <a:off x="1463873" y="4416266"/>
            <a:ext cx="5599867" cy="329922"/>
          </a:xfrm>
          <a:prstGeom prst="rect">
            <a:avLst/>
          </a:prstGeom>
          <a:noFill/>
          <a:ln/>
        </p:spPr>
        <p:txBody>
          <a:bodyPr wrap="none" lIns="0" tIns="0" rIns="0" bIns="0" rtlCol="0" anchor="t"/>
          <a:lstStyle/>
          <a:p>
            <a:pPr marL="0" indent="0" algn="l">
              <a:lnSpc>
                <a:spcPts val="2550"/>
              </a:lnSpc>
              <a:buNone/>
            </a:pPr>
            <a:endParaRPr lang="en-US" sz="1600" dirty="0"/>
          </a:p>
        </p:txBody>
      </p:sp>
      <p:sp>
        <p:nvSpPr>
          <p:cNvPr id="12" name="Shape 10"/>
          <p:cNvSpPr/>
          <p:nvPr/>
        </p:nvSpPr>
        <p:spPr>
          <a:xfrm>
            <a:off x="793909" y="5158502"/>
            <a:ext cx="463868" cy="463868"/>
          </a:xfrm>
          <a:prstGeom prst="roundRect">
            <a:avLst>
              <a:gd name="adj" fmla="val 6668"/>
            </a:avLst>
          </a:prstGeom>
          <a:solidFill>
            <a:srgbClr val="E5DFD2"/>
          </a:solidFill>
          <a:ln/>
        </p:spPr>
        <p:txBody>
          <a:bodyPr/>
          <a:lstStyle/>
          <a:p>
            <a:endParaRPr lang="en-US"/>
          </a:p>
        </p:txBody>
      </p:sp>
      <p:sp>
        <p:nvSpPr>
          <p:cNvPr id="13" name="Text 11"/>
          <p:cNvSpPr/>
          <p:nvPr/>
        </p:nvSpPr>
        <p:spPr>
          <a:xfrm>
            <a:off x="871240" y="5197138"/>
            <a:ext cx="309205" cy="386596"/>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3</a:t>
            </a:r>
            <a:endParaRPr lang="en-US" sz="2400" dirty="0"/>
          </a:p>
        </p:txBody>
      </p:sp>
      <p:sp>
        <p:nvSpPr>
          <p:cNvPr id="14" name="Text 12"/>
          <p:cNvSpPr/>
          <p:nvPr/>
        </p:nvSpPr>
        <p:spPr>
          <a:xfrm>
            <a:off x="1463873" y="5229344"/>
            <a:ext cx="3079671" cy="322183"/>
          </a:xfrm>
          <a:prstGeom prst="rect">
            <a:avLst/>
          </a:prstGeom>
          <a:noFill/>
          <a:ln/>
        </p:spPr>
        <p:txBody>
          <a:bodyPr wrap="none" lIns="0" tIns="0" rIns="0" bIns="0" rtlCol="0" anchor="t"/>
          <a:lstStyle/>
          <a:p>
            <a:pPr marL="0" indent="0" algn="l">
              <a:lnSpc>
                <a:spcPts val="2500"/>
              </a:lnSpc>
              <a:buNone/>
            </a:pPr>
            <a:r>
              <a:rPr lang="en-US" sz="2000" b="1" dirty="0">
                <a:solidFill>
                  <a:srgbClr val="4A4A45"/>
                </a:solidFill>
                <a:latin typeface="Lato Bold" pitchFamily="34" charset="0"/>
                <a:ea typeface="Lato Bold" pitchFamily="34" charset="-122"/>
                <a:cs typeface="Lato Bold" pitchFamily="34" charset="-120"/>
              </a:rPr>
              <a:t>Supply Chain Optimization</a:t>
            </a:r>
            <a:endParaRPr lang="en-US" sz="2000" dirty="0"/>
          </a:p>
        </p:txBody>
      </p:sp>
      <p:sp>
        <p:nvSpPr>
          <p:cNvPr id="15" name="Text 13"/>
          <p:cNvSpPr/>
          <p:nvPr/>
        </p:nvSpPr>
        <p:spPr>
          <a:xfrm>
            <a:off x="1463873" y="5757624"/>
            <a:ext cx="5599867" cy="329922"/>
          </a:xfrm>
          <a:prstGeom prst="rect">
            <a:avLst/>
          </a:prstGeom>
          <a:noFill/>
          <a:ln/>
        </p:spPr>
        <p:txBody>
          <a:bodyPr wrap="none" lIns="0" tIns="0" rIns="0" bIns="0" rtlCol="0" anchor="t"/>
          <a:lstStyle/>
          <a:p>
            <a:pPr marL="0" indent="0" algn="l">
              <a:lnSpc>
                <a:spcPts val="2550"/>
              </a:lnSpc>
              <a:buNone/>
            </a:pPr>
            <a:endParaRPr lang="en-US" sz="1600" dirty="0"/>
          </a:p>
        </p:txBody>
      </p:sp>
      <p:sp>
        <p:nvSpPr>
          <p:cNvPr id="16" name="Shape 14"/>
          <p:cNvSpPr/>
          <p:nvPr/>
        </p:nvSpPr>
        <p:spPr>
          <a:xfrm>
            <a:off x="793909" y="6499860"/>
            <a:ext cx="463868" cy="463868"/>
          </a:xfrm>
          <a:prstGeom prst="roundRect">
            <a:avLst>
              <a:gd name="adj" fmla="val 6668"/>
            </a:avLst>
          </a:prstGeom>
          <a:solidFill>
            <a:srgbClr val="E5DFD2"/>
          </a:solidFill>
          <a:ln/>
        </p:spPr>
        <p:txBody>
          <a:bodyPr/>
          <a:lstStyle/>
          <a:p>
            <a:endParaRPr lang="en-US"/>
          </a:p>
        </p:txBody>
      </p:sp>
      <p:sp>
        <p:nvSpPr>
          <p:cNvPr id="17" name="Text 15"/>
          <p:cNvSpPr/>
          <p:nvPr/>
        </p:nvSpPr>
        <p:spPr>
          <a:xfrm>
            <a:off x="871240" y="6538496"/>
            <a:ext cx="309205" cy="386596"/>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4</a:t>
            </a:r>
            <a:endParaRPr lang="en-US" sz="2400" dirty="0"/>
          </a:p>
        </p:txBody>
      </p:sp>
      <p:sp>
        <p:nvSpPr>
          <p:cNvPr id="18" name="Text 16"/>
          <p:cNvSpPr/>
          <p:nvPr/>
        </p:nvSpPr>
        <p:spPr>
          <a:xfrm>
            <a:off x="1463873" y="6570702"/>
            <a:ext cx="2623542" cy="322183"/>
          </a:xfrm>
          <a:prstGeom prst="rect">
            <a:avLst/>
          </a:prstGeom>
          <a:noFill/>
          <a:ln/>
        </p:spPr>
        <p:txBody>
          <a:bodyPr wrap="none" lIns="0" tIns="0" rIns="0" bIns="0" rtlCol="0" anchor="t"/>
          <a:lstStyle/>
          <a:p>
            <a:pPr marL="0" indent="0" algn="l">
              <a:lnSpc>
                <a:spcPts val="2500"/>
              </a:lnSpc>
              <a:buNone/>
            </a:pPr>
            <a:r>
              <a:rPr lang="en-US" sz="2000" b="1" dirty="0">
                <a:solidFill>
                  <a:srgbClr val="4A4A45"/>
                </a:solidFill>
                <a:latin typeface="Lato Bold" pitchFamily="34" charset="0"/>
                <a:ea typeface="Lato Bold" pitchFamily="34" charset="-122"/>
                <a:cs typeface="Lato Bold" pitchFamily="34" charset="-120"/>
              </a:rPr>
              <a:t>Cost Efficiency &amp; Rigor</a:t>
            </a:r>
            <a:endParaRPr lang="en-US" sz="2000" dirty="0"/>
          </a:p>
        </p:txBody>
      </p:sp>
      <p:sp>
        <p:nvSpPr>
          <p:cNvPr id="19" name="Text 17"/>
          <p:cNvSpPr/>
          <p:nvPr/>
        </p:nvSpPr>
        <p:spPr>
          <a:xfrm>
            <a:off x="1463873" y="7098983"/>
            <a:ext cx="5599867" cy="329922"/>
          </a:xfrm>
          <a:prstGeom prst="rect">
            <a:avLst/>
          </a:prstGeom>
          <a:noFill/>
          <a:ln/>
        </p:spPr>
        <p:txBody>
          <a:bodyPr wrap="none" lIns="0" tIns="0" rIns="0" bIns="0" rtlCol="0" anchor="t"/>
          <a:lstStyle/>
          <a:p>
            <a:pPr marL="0" indent="0" algn="l">
              <a:lnSpc>
                <a:spcPts val="2550"/>
              </a:lnSpc>
              <a:buNone/>
            </a:pPr>
            <a:endParaRPr lang="en-US" sz="1600" dirty="0"/>
          </a:p>
        </p:txBody>
      </p:sp>
      <p:sp>
        <p:nvSpPr>
          <p:cNvPr id="20" name="Text 18"/>
          <p:cNvSpPr/>
          <p:nvPr/>
        </p:nvSpPr>
        <p:spPr>
          <a:xfrm>
            <a:off x="7574280" y="1728311"/>
            <a:ext cx="4841677" cy="515541"/>
          </a:xfrm>
          <a:prstGeom prst="rect">
            <a:avLst/>
          </a:prstGeom>
          <a:noFill/>
          <a:ln/>
        </p:spPr>
        <p:txBody>
          <a:bodyPr wrap="none" lIns="0" tIns="0" rIns="0" bIns="0" rtlCol="0" anchor="t"/>
          <a:lstStyle/>
          <a:p>
            <a:pPr marL="0" indent="0" algn="l">
              <a:lnSpc>
                <a:spcPts val="4050"/>
              </a:lnSpc>
              <a:buNone/>
            </a:pPr>
            <a:r>
              <a:rPr lang="en-US" sz="3200" b="1" dirty="0">
                <a:solidFill>
                  <a:srgbClr val="282824"/>
                </a:solidFill>
                <a:latin typeface="Lato Bold" pitchFamily="34" charset="0"/>
                <a:ea typeface="Lato Bold" pitchFamily="34" charset="-122"/>
                <a:cs typeface="Lato Bold" pitchFamily="34" charset="-120"/>
              </a:rPr>
              <a:t>Challenges &amp; Future Work</a:t>
            </a:r>
            <a:endParaRPr lang="en-US" sz="3200" dirty="0"/>
          </a:p>
        </p:txBody>
      </p:sp>
      <p:pic>
        <p:nvPicPr>
          <p:cNvPr id="21"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51552" y="2482215"/>
            <a:ext cx="309205" cy="309205"/>
          </a:xfrm>
          <a:prstGeom prst="rect">
            <a:avLst/>
          </a:prstGeom>
        </p:spPr>
      </p:pic>
      <p:sp>
        <p:nvSpPr>
          <p:cNvPr id="22" name="Text 19"/>
          <p:cNvSpPr/>
          <p:nvPr/>
        </p:nvSpPr>
        <p:spPr>
          <a:xfrm>
            <a:off x="8244245" y="2475786"/>
            <a:ext cx="3160633" cy="322183"/>
          </a:xfrm>
          <a:prstGeom prst="rect">
            <a:avLst/>
          </a:prstGeom>
          <a:noFill/>
          <a:ln/>
        </p:spPr>
        <p:txBody>
          <a:bodyPr wrap="none" lIns="0" tIns="0" rIns="0" bIns="0" rtlCol="0" anchor="t"/>
          <a:lstStyle/>
          <a:p>
            <a:pPr marL="0" indent="0" algn="l">
              <a:lnSpc>
                <a:spcPts val="2500"/>
              </a:lnSpc>
              <a:buNone/>
            </a:pPr>
            <a:r>
              <a:rPr lang="en-US" sz="2000" b="1" dirty="0">
                <a:solidFill>
                  <a:srgbClr val="4A4A45"/>
                </a:solidFill>
                <a:latin typeface="Lato Bold" pitchFamily="34" charset="0"/>
                <a:ea typeface="Lato Bold" pitchFamily="34" charset="-122"/>
                <a:cs typeface="Lato Bold" pitchFamily="34" charset="-120"/>
              </a:rPr>
              <a:t>Implementation Challenges</a:t>
            </a:r>
            <a:endParaRPr lang="en-US" sz="2000" dirty="0"/>
          </a:p>
        </p:txBody>
      </p:sp>
      <p:pic>
        <p:nvPicPr>
          <p:cNvPr id="23"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51552" y="3519488"/>
            <a:ext cx="309205" cy="309205"/>
          </a:xfrm>
          <a:prstGeom prst="rect">
            <a:avLst/>
          </a:prstGeom>
        </p:spPr>
      </p:pic>
      <p:sp>
        <p:nvSpPr>
          <p:cNvPr id="24" name="Text 20"/>
          <p:cNvSpPr/>
          <p:nvPr/>
        </p:nvSpPr>
        <p:spPr>
          <a:xfrm>
            <a:off x="8244245" y="3513058"/>
            <a:ext cx="3383756" cy="322183"/>
          </a:xfrm>
          <a:prstGeom prst="rect">
            <a:avLst/>
          </a:prstGeom>
          <a:noFill/>
          <a:ln/>
        </p:spPr>
        <p:txBody>
          <a:bodyPr wrap="none" lIns="0" tIns="0" rIns="0" bIns="0" rtlCol="0" anchor="t"/>
          <a:lstStyle/>
          <a:p>
            <a:pPr marL="0" indent="0" algn="l">
              <a:lnSpc>
                <a:spcPts val="2500"/>
              </a:lnSpc>
              <a:buNone/>
            </a:pPr>
            <a:r>
              <a:rPr lang="en-US" sz="2000" b="1" dirty="0">
                <a:solidFill>
                  <a:srgbClr val="4A4A45"/>
                </a:solidFill>
                <a:latin typeface="Lato Bold" pitchFamily="34" charset="0"/>
                <a:ea typeface="Lato Bold" pitchFamily="34" charset="-122"/>
                <a:cs typeface="Lato Bold" pitchFamily="34" charset="-120"/>
              </a:rPr>
              <a:t>Temporal Sequence Modeling</a:t>
            </a:r>
            <a:endParaRPr lang="en-US" sz="2000" dirty="0"/>
          </a:p>
        </p:txBody>
      </p:sp>
      <p:pic>
        <p:nvPicPr>
          <p:cNvPr id="25"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51552" y="4556760"/>
            <a:ext cx="309205" cy="309205"/>
          </a:xfrm>
          <a:prstGeom prst="rect">
            <a:avLst/>
          </a:prstGeom>
        </p:spPr>
      </p:pic>
      <p:sp>
        <p:nvSpPr>
          <p:cNvPr id="26" name="Text 21"/>
          <p:cNvSpPr/>
          <p:nvPr/>
        </p:nvSpPr>
        <p:spPr>
          <a:xfrm>
            <a:off x="8244245" y="4550331"/>
            <a:ext cx="3464719" cy="322183"/>
          </a:xfrm>
          <a:prstGeom prst="rect">
            <a:avLst/>
          </a:prstGeom>
          <a:noFill/>
          <a:ln/>
        </p:spPr>
        <p:txBody>
          <a:bodyPr wrap="none" lIns="0" tIns="0" rIns="0" bIns="0" rtlCol="0" anchor="t"/>
          <a:lstStyle/>
          <a:p>
            <a:pPr marL="0" indent="0" algn="l">
              <a:lnSpc>
                <a:spcPts val="2500"/>
              </a:lnSpc>
              <a:buNone/>
            </a:pPr>
            <a:r>
              <a:rPr lang="en-US" sz="2000" b="1" dirty="0">
                <a:solidFill>
                  <a:srgbClr val="4A4A45"/>
                </a:solidFill>
                <a:latin typeface="Lato Bold" pitchFamily="34" charset="0"/>
                <a:ea typeface="Lato Bold" pitchFamily="34" charset="-122"/>
                <a:cs typeface="Lato Bold" pitchFamily="34" charset="-120"/>
              </a:rPr>
              <a:t>Lightweight Edge Deployment</a:t>
            </a:r>
            <a:endParaRPr lang="en-US" sz="2000" dirty="0"/>
          </a:p>
        </p:txBody>
      </p:sp>
      <p:pic>
        <p:nvPicPr>
          <p:cNvPr id="27"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51552" y="5594033"/>
            <a:ext cx="309205" cy="309205"/>
          </a:xfrm>
          <a:prstGeom prst="rect">
            <a:avLst/>
          </a:prstGeom>
        </p:spPr>
      </p:pic>
      <p:sp>
        <p:nvSpPr>
          <p:cNvPr id="28" name="Text 22"/>
          <p:cNvSpPr/>
          <p:nvPr/>
        </p:nvSpPr>
        <p:spPr>
          <a:xfrm>
            <a:off x="8244245" y="5587603"/>
            <a:ext cx="2577584" cy="322183"/>
          </a:xfrm>
          <a:prstGeom prst="rect">
            <a:avLst/>
          </a:prstGeom>
          <a:noFill/>
          <a:ln/>
        </p:spPr>
        <p:txBody>
          <a:bodyPr wrap="none" lIns="0" tIns="0" rIns="0" bIns="0" rtlCol="0" anchor="t"/>
          <a:lstStyle/>
          <a:p>
            <a:pPr marL="0" indent="0" algn="l">
              <a:lnSpc>
                <a:spcPts val="2500"/>
              </a:lnSpc>
              <a:buNone/>
            </a:pPr>
            <a:r>
              <a:rPr lang="en-US" sz="2000" b="1" dirty="0">
                <a:solidFill>
                  <a:srgbClr val="4A4A45"/>
                </a:solidFill>
                <a:latin typeface="Lato Bold" pitchFamily="34" charset="0"/>
                <a:ea typeface="Lato Bold" pitchFamily="34" charset="-122"/>
                <a:cs typeface="Lato Bold" pitchFamily="34" charset="-120"/>
              </a:rPr>
              <a:t>Real-World Validation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556266"/>
            <a:ext cx="5483423" cy="566976"/>
          </a:xfrm>
          <a:prstGeom prst="rect">
            <a:avLst/>
          </a:prstGeom>
          <a:noFill/>
          <a:ln/>
        </p:spPr>
        <p:txBody>
          <a:bodyPr wrap="none" lIns="0" tIns="0" rIns="0" bIns="0" rtlCol="0" anchor="t"/>
          <a:lstStyle/>
          <a:p>
            <a:pPr marL="0" indent="0" algn="l">
              <a:lnSpc>
                <a:spcPts val="4450"/>
              </a:lnSpc>
              <a:buNone/>
            </a:pPr>
            <a:r>
              <a:rPr lang="en-US" sz="3550" b="1" dirty="0">
                <a:solidFill>
                  <a:srgbClr val="282824"/>
                </a:solidFill>
                <a:latin typeface="Lato Bold" pitchFamily="34" charset="0"/>
                <a:ea typeface="Lato Bold" pitchFamily="34" charset="-122"/>
                <a:cs typeface="Lato Bold" pitchFamily="34" charset="-120"/>
              </a:rPr>
              <a:t>IMPLEMENTATION STEPS </a:t>
            </a:r>
            <a:endParaRPr lang="en-US" sz="3550" dirty="0"/>
          </a:p>
        </p:txBody>
      </p:sp>
      <p:sp>
        <p:nvSpPr>
          <p:cNvPr id="3" name="Text 1"/>
          <p:cNvSpPr/>
          <p:nvPr/>
        </p:nvSpPr>
        <p:spPr>
          <a:xfrm>
            <a:off x="793790" y="2213967"/>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282824"/>
                </a:solidFill>
                <a:latin typeface="Lato Bold" pitchFamily="34" charset="0"/>
                <a:ea typeface="Lato Bold" pitchFamily="34" charset="-122"/>
                <a:cs typeface="Lato Bold" pitchFamily="34" charset="-120"/>
              </a:rPr>
              <a:t>Data Preparation</a:t>
            </a:r>
            <a:endParaRPr lang="en-US" sz="2650" dirty="0"/>
          </a:p>
        </p:txBody>
      </p:sp>
      <p:sp>
        <p:nvSpPr>
          <p:cNvPr id="4" name="Text 2"/>
          <p:cNvSpPr/>
          <p:nvPr/>
        </p:nvSpPr>
        <p:spPr>
          <a:xfrm>
            <a:off x="793790" y="3206234"/>
            <a:ext cx="4034552"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Food Aayush Dataset (training): </a:t>
            </a:r>
            <a:endParaRPr lang="en-US" sz="2200" dirty="0"/>
          </a:p>
        </p:txBody>
      </p:sp>
      <p:sp>
        <p:nvSpPr>
          <p:cNvPr id="5" name="Text 3"/>
          <p:cNvSpPr/>
          <p:nvPr/>
        </p:nvSpPr>
        <p:spPr>
          <a:xfrm>
            <a:off x="793790" y="3787378"/>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6 fruit/vegetable types </a:t>
            </a:r>
            <a:endParaRPr lang="en-US" sz="1750" dirty="0"/>
          </a:p>
        </p:txBody>
      </p:sp>
      <p:sp>
        <p:nvSpPr>
          <p:cNvPr id="6" name="Text 4"/>
          <p:cNvSpPr/>
          <p:nvPr/>
        </p:nvSpPr>
        <p:spPr>
          <a:xfrm>
            <a:off x="793790" y="4354354"/>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2 freshness states (fresh, stale) </a:t>
            </a:r>
            <a:endParaRPr lang="en-US" sz="1750" dirty="0"/>
          </a:p>
        </p:txBody>
      </p:sp>
      <p:sp>
        <p:nvSpPr>
          <p:cNvPr id="7" name="Text 5"/>
          <p:cNvSpPr/>
          <p:nvPr/>
        </p:nvSpPr>
        <p:spPr>
          <a:xfrm>
            <a:off x="793790" y="4921329"/>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~3000 images per class </a:t>
            </a:r>
            <a:endParaRPr lang="en-US" sz="1750" dirty="0"/>
          </a:p>
        </p:txBody>
      </p:sp>
      <p:sp>
        <p:nvSpPr>
          <p:cNvPr id="8" name="Text 6"/>
          <p:cNvSpPr/>
          <p:nvPr/>
        </p:nvSpPr>
        <p:spPr>
          <a:xfrm>
            <a:off x="793790" y="5488305"/>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Split: 80% train, 10% validation, 10% test (IN-DOMAIN)</a:t>
            </a:r>
            <a:endParaRPr lang="en-US" sz="1750" dirty="0"/>
          </a:p>
        </p:txBody>
      </p:sp>
      <p:sp>
        <p:nvSpPr>
          <p:cNvPr id="9" name="Text 7"/>
          <p:cNvSpPr/>
          <p:nvPr/>
        </p:nvSpPr>
        <p:spPr>
          <a:xfrm>
            <a:off x="7599521" y="3206234"/>
            <a:ext cx="4958715"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Domain-Labeled Test Sets (evaluation): </a:t>
            </a:r>
            <a:endParaRPr lang="en-US" sz="2200" dirty="0"/>
          </a:p>
        </p:txBody>
      </p:sp>
      <p:sp>
        <p:nvSpPr>
          <p:cNvPr id="10" name="Text 8"/>
          <p:cNvSpPr/>
          <p:nvPr/>
        </p:nvSpPr>
        <p:spPr>
          <a:xfrm>
            <a:off x="7599521" y="3787378"/>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Domain 1: Smartphone camera images </a:t>
            </a:r>
            <a:endParaRPr lang="en-US" sz="1750" dirty="0"/>
          </a:p>
        </p:txBody>
      </p:sp>
      <p:sp>
        <p:nvSpPr>
          <p:cNvPr id="11" name="Text 9"/>
          <p:cNvSpPr/>
          <p:nvPr/>
        </p:nvSpPr>
        <p:spPr>
          <a:xfrm>
            <a:off x="7599521" y="4354354"/>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Domain 2: Low-light conditions </a:t>
            </a:r>
            <a:endParaRPr lang="en-US" sz="1750" dirty="0"/>
          </a:p>
        </p:txBody>
      </p:sp>
      <p:sp>
        <p:nvSpPr>
          <p:cNvPr id="12" name="Text 10"/>
          <p:cNvSpPr/>
          <p:nvPr/>
        </p:nvSpPr>
        <p:spPr>
          <a:xfrm>
            <a:off x="7599521" y="4921329"/>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Domain 3: Market background (cluttered) </a:t>
            </a:r>
            <a:endParaRPr lang="en-US" sz="1750" dirty="0"/>
          </a:p>
        </p:txBody>
      </p:sp>
      <p:sp>
        <p:nvSpPr>
          <p:cNvPr id="13" name="Text 11"/>
          <p:cNvSpPr/>
          <p:nvPr/>
        </p:nvSpPr>
        <p:spPr>
          <a:xfrm>
            <a:off x="7599521" y="5488305"/>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Domain 4: Seasonal variations</a:t>
            </a:r>
            <a:endParaRPr lang="en-US" sz="1750" dirty="0"/>
          </a:p>
        </p:txBody>
      </p:sp>
      <p:sp>
        <p:nvSpPr>
          <p:cNvPr id="14" name="Text 12"/>
          <p:cNvSpPr/>
          <p:nvPr/>
        </p:nvSpPr>
        <p:spPr>
          <a:xfrm>
            <a:off x="793790" y="6310432"/>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689497"/>
            <a:ext cx="7746683" cy="708779"/>
          </a:xfrm>
          <a:prstGeom prst="rect">
            <a:avLst/>
          </a:prstGeom>
          <a:noFill/>
          <a:ln/>
        </p:spPr>
        <p:txBody>
          <a:bodyPr wrap="non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Key Advantages Over Baseline</a:t>
            </a:r>
            <a:endParaRPr lang="en-US" sz="4450" dirty="0"/>
          </a:p>
        </p:txBody>
      </p:sp>
      <p:sp>
        <p:nvSpPr>
          <p:cNvPr id="3" name="Text 1"/>
          <p:cNvSpPr/>
          <p:nvPr/>
        </p:nvSpPr>
        <p:spPr>
          <a:xfrm>
            <a:off x="793790" y="2965252"/>
            <a:ext cx="3688199"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BETTER FOR SUPPLY CHAIN</a:t>
            </a:r>
            <a:endParaRPr lang="en-US" sz="2200" dirty="0"/>
          </a:p>
        </p:txBody>
      </p:sp>
      <p:sp>
        <p:nvSpPr>
          <p:cNvPr id="4" name="Text 2"/>
          <p:cNvSpPr/>
          <p:nvPr/>
        </p:nvSpPr>
        <p:spPr>
          <a:xfrm>
            <a:off x="793790" y="3546396"/>
            <a:ext cx="3978116"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Ordinal freshness (5 levels, not binary) </a:t>
            </a:r>
            <a:endParaRPr lang="en-US" sz="1750" dirty="0"/>
          </a:p>
        </p:txBody>
      </p:sp>
      <p:sp>
        <p:nvSpPr>
          <p:cNvPr id="5" name="Text 3"/>
          <p:cNvSpPr/>
          <p:nvPr/>
        </p:nvSpPr>
        <p:spPr>
          <a:xfrm>
            <a:off x="793790" y="4113371"/>
            <a:ext cx="3978116"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Knows "how stale" not just "is it stale"</a:t>
            </a:r>
            <a:endParaRPr lang="en-US" sz="1750" dirty="0"/>
          </a:p>
        </p:txBody>
      </p:sp>
      <p:sp>
        <p:nvSpPr>
          <p:cNvPr id="6" name="Text 4"/>
          <p:cNvSpPr/>
          <p:nvPr/>
        </p:nvSpPr>
        <p:spPr>
          <a:xfrm>
            <a:off x="793790" y="4680347"/>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 30-40% supply chain optimization potential ✓</a:t>
            </a:r>
            <a:endParaRPr lang="en-US" sz="1750" dirty="0"/>
          </a:p>
        </p:txBody>
      </p:sp>
      <p:sp>
        <p:nvSpPr>
          <p:cNvPr id="7" name="Text 5"/>
          <p:cNvSpPr/>
          <p:nvPr/>
        </p:nvSpPr>
        <p:spPr>
          <a:xfrm>
            <a:off x="5332928" y="29652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SCIENTIFIC RIGOR</a:t>
            </a:r>
            <a:endParaRPr lang="en-US" sz="2200" dirty="0"/>
          </a:p>
        </p:txBody>
      </p:sp>
      <p:sp>
        <p:nvSpPr>
          <p:cNvPr id="8" name="Text 6"/>
          <p:cNvSpPr/>
          <p:nvPr/>
        </p:nvSpPr>
        <p:spPr>
          <a:xfrm>
            <a:off x="5332928" y="3546396"/>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Cross-domain evaluation (not just in-domain) </a:t>
            </a:r>
            <a:endParaRPr lang="en-US" sz="1750" dirty="0"/>
          </a:p>
        </p:txBody>
      </p:sp>
      <p:sp>
        <p:nvSpPr>
          <p:cNvPr id="9" name="Text 7"/>
          <p:cNvSpPr/>
          <p:nvPr/>
        </p:nvSpPr>
        <p:spPr>
          <a:xfrm>
            <a:off x="5332928" y="4476274"/>
            <a:ext cx="3978116"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Explainability via attention + SHAP </a:t>
            </a:r>
            <a:endParaRPr lang="en-US" sz="1750" dirty="0"/>
          </a:p>
        </p:txBody>
      </p:sp>
      <p:sp>
        <p:nvSpPr>
          <p:cNvPr id="10" name="Text 8"/>
          <p:cNvSpPr/>
          <p:nvPr/>
        </p:nvSpPr>
        <p:spPr>
          <a:xfrm>
            <a:off x="5332928" y="5043249"/>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Honest about trade-offs (98% vs 100% in-domain) </a:t>
            </a:r>
            <a:endParaRPr lang="en-US" sz="1750" dirty="0"/>
          </a:p>
        </p:txBody>
      </p:sp>
      <p:sp>
        <p:nvSpPr>
          <p:cNvPr id="11" name="Text 9"/>
          <p:cNvSpPr/>
          <p:nvPr/>
        </p:nvSpPr>
        <p:spPr>
          <a:xfrm>
            <a:off x="5332928" y="5973128"/>
            <a:ext cx="3978116"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Reproducible and open-source ✓</a:t>
            </a:r>
            <a:endParaRPr lang="en-US" sz="1750" dirty="0"/>
          </a:p>
        </p:txBody>
      </p:sp>
      <p:sp>
        <p:nvSpPr>
          <p:cNvPr id="12" name="Text 10"/>
          <p:cNvSpPr/>
          <p:nvPr/>
        </p:nvSpPr>
        <p:spPr>
          <a:xfrm>
            <a:off x="9872067" y="29652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COST EFFICIENCY</a:t>
            </a:r>
            <a:endParaRPr lang="en-US" sz="2200" dirty="0"/>
          </a:p>
        </p:txBody>
      </p:sp>
      <p:sp>
        <p:nvSpPr>
          <p:cNvPr id="13" name="Text 11"/>
          <p:cNvSpPr/>
          <p:nvPr/>
        </p:nvSpPr>
        <p:spPr>
          <a:xfrm>
            <a:off x="9872067" y="3546396"/>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No expensive RTX 3090 needed (3080 sufficient) </a:t>
            </a:r>
            <a:endParaRPr lang="en-US" sz="1750" dirty="0"/>
          </a:p>
        </p:txBody>
      </p:sp>
      <p:sp>
        <p:nvSpPr>
          <p:cNvPr id="14" name="Text 12"/>
          <p:cNvSpPr/>
          <p:nvPr/>
        </p:nvSpPr>
        <p:spPr>
          <a:xfrm>
            <a:off x="9872067" y="4476274"/>
            <a:ext cx="3978116"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Cloud training cost: $10 vs $50 (5× cheaper)</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839033"/>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282824"/>
                </a:solidFill>
                <a:latin typeface="Lato Bold" pitchFamily="34" charset="0"/>
                <a:ea typeface="Lato Bold" pitchFamily="34" charset="-122"/>
                <a:cs typeface="Lato Bold" pitchFamily="34" charset="-120"/>
              </a:rPr>
              <a:t>CHALLENGES</a:t>
            </a:r>
            <a:endParaRPr lang="en-US" sz="3550" dirty="0"/>
          </a:p>
        </p:txBody>
      </p:sp>
      <p:sp>
        <p:nvSpPr>
          <p:cNvPr id="3" name="Text 1"/>
          <p:cNvSpPr/>
          <p:nvPr/>
        </p:nvSpPr>
        <p:spPr>
          <a:xfrm>
            <a:off x="793790" y="1972985"/>
            <a:ext cx="2845594" cy="708660"/>
          </a:xfrm>
          <a:prstGeom prst="rect">
            <a:avLst/>
          </a:prstGeom>
          <a:noFill/>
          <a:ln/>
        </p:spPr>
        <p:txBody>
          <a:bodyPr wrap="squar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DOMAIN LABELING OVERHEAD </a:t>
            </a:r>
            <a:endParaRPr lang="en-US" sz="2200" dirty="0"/>
          </a:p>
        </p:txBody>
      </p:sp>
      <p:sp>
        <p:nvSpPr>
          <p:cNvPr id="4" name="Text 2"/>
          <p:cNvSpPr/>
          <p:nvPr/>
        </p:nvSpPr>
        <p:spPr>
          <a:xfrm>
            <a:off x="793790" y="277237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PROBLEM: </a:t>
            </a:r>
            <a:endParaRPr lang="en-US" sz="2200" dirty="0"/>
          </a:p>
        </p:txBody>
      </p:sp>
      <p:sp>
        <p:nvSpPr>
          <p:cNvPr id="5" name="Text 3"/>
          <p:cNvSpPr/>
          <p:nvPr/>
        </p:nvSpPr>
        <p:spPr>
          <a:xfrm>
            <a:off x="793790" y="3353514"/>
            <a:ext cx="2845594"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Need domain labels for discriminator training </a:t>
            </a:r>
            <a:endParaRPr lang="en-US" sz="1750" dirty="0"/>
          </a:p>
        </p:txBody>
      </p:sp>
      <p:sp>
        <p:nvSpPr>
          <p:cNvPr id="6" name="Text 4"/>
          <p:cNvSpPr/>
          <p:nvPr/>
        </p:nvSpPr>
        <p:spPr>
          <a:xfrm>
            <a:off x="793790" y="4283393"/>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Solution: </a:t>
            </a:r>
            <a:endParaRPr lang="en-US" sz="1750" dirty="0"/>
          </a:p>
        </p:txBody>
      </p:sp>
      <p:sp>
        <p:nvSpPr>
          <p:cNvPr id="7" name="Text 5"/>
          <p:cNvSpPr/>
          <p:nvPr/>
        </p:nvSpPr>
        <p:spPr>
          <a:xfrm>
            <a:off x="793790" y="4850368"/>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Automatically assign domains by image metadata or visual features (if unavailable, can bootstrap)</a:t>
            </a:r>
            <a:endParaRPr lang="en-US" sz="1750" dirty="0"/>
          </a:p>
        </p:txBody>
      </p:sp>
      <p:sp>
        <p:nvSpPr>
          <p:cNvPr id="8" name="Text 6"/>
          <p:cNvSpPr/>
          <p:nvPr/>
        </p:nvSpPr>
        <p:spPr>
          <a:xfrm>
            <a:off x="4200406" y="1972985"/>
            <a:ext cx="2845594" cy="1062990"/>
          </a:xfrm>
          <a:prstGeom prst="rect">
            <a:avLst/>
          </a:prstGeom>
          <a:noFill/>
          <a:ln/>
        </p:spPr>
        <p:txBody>
          <a:bodyPr wrap="squar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SYNTHETIC DATA NOT NEEDED (Advantage!)</a:t>
            </a:r>
            <a:endParaRPr lang="en-US" sz="2200" dirty="0"/>
          </a:p>
        </p:txBody>
      </p:sp>
      <p:sp>
        <p:nvSpPr>
          <p:cNvPr id="9" name="Text 7"/>
          <p:cNvSpPr/>
          <p:nvPr/>
        </p:nvSpPr>
        <p:spPr>
          <a:xfrm>
            <a:off x="4200406" y="3262789"/>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Baseline requires: </a:t>
            </a:r>
            <a:endParaRPr lang="en-US" sz="1750" dirty="0"/>
          </a:p>
        </p:txBody>
      </p:sp>
      <p:sp>
        <p:nvSpPr>
          <p:cNvPr id="10" name="Text 8"/>
          <p:cNvSpPr/>
          <p:nvPr/>
        </p:nvSpPr>
        <p:spPr>
          <a:xfrm>
            <a:off x="4200406" y="3829764"/>
            <a:ext cx="2845594"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60-hour GAN training </a:t>
            </a:r>
            <a:endParaRPr lang="en-US" sz="1750" dirty="0"/>
          </a:p>
        </p:txBody>
      </p:sp>
      <p:sp>
        <p:nvSpPr>
          <p:cNvPr id="11" name="Text 9"/>
          <p:cNvSpPr/>
          <p:nvPr/>
        </p:nvSpPr>
        <p:spPr>
          <a:xfrm>
            <a:off x="4200406" y="4396740"/>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Ours requires: </a:t>
            </a:r>
            <a:endParaRPr lang="en-US" sz="1750" dirty="0"/>
          </a:p>
        </p:txBody>
      </p:sp>
      <p:sp>
        <p:nvSpPr>
          <p:cNvPr id="12" name="Text 10"/>
          <p:cNvSpPr/>
          <p:nvPr/>
        </p:nvSpPr>
        <p:spPr>
          <a:xfrm>
            <a:off x="4200406" y="4963716"/>
            <a:ext cx="2845594"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Just domain labels and training data </a:t>
            </a:r>
            <a:endParaRPr lang="en-US" sz="1750" dirty="0"/>
          </a:p>
        </p:txBody>
      </p:sp>
      <p:sp>
        <p:nvSpPr>
          <p:cNvPr id="13" name="Text 11"/>
          <p:cNvSpPr/>
          <p:nvPr/>
        </p:nvSpPr>
        <p:spPr>
          <a:xfrm>
            <a:off x="4200406" y="5893594"/>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Status: </a:t>
            </a:r>
            <a:endParaRPr lang="en-US" sz="1750" dirty="0"/>
          </a:p>
        </p:txBody>
      </p:sp>
      <p:sp>
        <p:nvSpPr>
          <p:cNvPr id="14" name="Text 12"/>
          <p:cNvSpPr/>
          <p:nvPr/>
        </p:nvSpPr>
        <p:spPr>
          <a:xfrm>
            <a:off x="4200406" y="6460569"/>
            <a:ext cx="2845594"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SOLVES the GAN training bottleneck ✓</a:t>
            </a:r>
            <a:endParaRPr lang="en-US" sz="1750" dirty="0"/>
          </a:p>
        </p:txBody>
      </p:sp>
      <p:sp>
        <p:nvSpPr>
          <p:cNvPr id="15" name="Text 13"/>
          <p:cNvSpPr/>
          <p:nvPr/>
        </p:nvSpPr>
        <p:spPr>
          <a:xfrm>
            <a:off x="7607022" y="1972985"/>
            <a:ext cx="2845594" cy="1062990"/>
          </a:xfrm>
          <a:prstGeom prst="rect">
            <a:avLst/>
          </a:prstGeom>
          <a:noFill/>
          <a:ln/>
        </p:spPr>
        <p:txBody>
          <a:bodyPr wrap="squar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ORDINAL REGRESSION LEARNING CURVE </a:t>
            </a:r>
            <a:endParaRPr lang="en-US" sz="2200" dirty="0"/>
          </a:p>
        </p:txBody>
      </p:sp>
      <p:sp>
        <p:nvSpPr>
          <p:cNvPr id="16" name="Text 14"/>
          <p:cNvSpPr/>
          <p:nvPr/>
        </p:nvSpPr>
        <p:spPr>
          <a:xfrm>
            <a:off x="7607022" y="3262789"/>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Problem: </a:t>
            </a:r>
            <a:endParaRPr lang="en-US" sz="1750" dirty="0"/>
          </a:p>
        </p:txBody>
      </p:sp>
      <p:sp>
        <p:nvSpPr>
          <p:cNvPr id="17" name="Text 15"/>
          <p:cNvSpPr/>
          <p:nvPr/>
        </p:nvSpPr>
        <p:spPr>
          <a:xfrm>
            <a:off x="7607022" y="3829764"/>
            <a:ext cx="2845594"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Model may confuse adjacent levels </a:t>
            </a:r>
            <a:endParaRPr lang="en-US" sz="1750" dirty="0"/>
          </a:p>
        </p:txBody>
      </p:sp>
      <p:sp>
        <p:nvSpPr>
          <p:cNvPr id="18" name="Text 16"/>
          <p:cNvSpPr/>
          <p:nvPr/>
        </p:nvSpPr>
        <p:spPr>
          <a:xfrm>
            <a:off x="7607022" y="4759643"/>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Solution: </a:t>
            </a:r>
            <a:endParaRPr lang="en-US" sz="1750" dirty="0"/>
          </a:p>
        </p:txBody>
      </p:sp>
      <p:sp>
        <p:nvSpPr>
          <p:cNvPr id="19" name="Text 17"/>
          <p:cNvSpPr/>
          <p:nvPr/>
        </p:nvSpPr>
        <p:spPr>
          <a:xfrm>
            <a:off x="7607022" y="5326618"/>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Curriculum learning (start with binary, expand to 5-level) Cross-entropy with ordinal constraints</a:t>
            </a:r>
            <a:endParaRPr lang="en-US" sz="1750" dirty="0"/>
          </a:p>
        </p:txBody>
      </p:sp>
      <p:sp>
        <p:nvSpPr>
          <p:cNvPr id="20" name="Text 18"/>
          <p:cNvSpPr/>
          <p:nvPr/>
        </p:nvSpPr>
        <p:spPr>
          <a:xfrm>
            <a:off x="11013638" y="1972985"/>
            <a:ext cx="2845594" cy="708660"/>
          </a:xfrm>
          <a:prstGeom prst="rect">
            <a:avLst/>
          </a:prstGeom>
          <a:noFill/>
          <a:ln/>
        </p:spPr>
        <p:txBody>
          <a:bodyPr wrap="squar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HYPERPARAMETER TUNING </a:t>
            </a:r>
            <a:endParaRPr lang="en-US" sz="2200" dirty="0"/>
          </a:p>
        </p:txBody>
      </p:sp>
      <p:sp>
        <p:nvSpPr>
          <p:cNvPr id="21" name="Text 19"/>
          <p:cNvSpPr/>
          <p:nvPr/>
        </p:nvSpPr>
        <p:spPr>
          <a:xfrm>
            <a:off x="11013638" y="2908459"/>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Lambda_grl schedule: </a:t>
            </a:r>
            <a:endParaRPr lang="en-US" sz="1750" dirty="0"/>
          </a:p>
        </p:txBody>
      </p:sp>
      <p:sp>
        <p:nvSpPr>
          <p:cNvPr id="22" name="Text 20"/>
          <p:cNvSpPr/>
          <p:nvPr/>
        </p:nvSpPr>
        <p:spPr>
          <a:xfrm>
            <a:off x="11013638" y="3475434"/>
            <a:ext cx="2845594"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DANN typically uses 2 / (1 + exp(-10*p)) - 1 </a:t>
            </a:r>
            <a:endParaRPr lang="en-US" sz="1750" dirty="0"/>
          </a:p>
        </p:txBody>
      </p:sp>
      <p:sp>
        <p:nvSpPr>
          <p:cNvPr id="23" name="Text 21"/>
          <p:cNvSpPr/>
          <p:nvPr/>
        </p:nvSpPr>
        <p:spPr>
          <a:xfrm>
            <a:off x="11013638" y="4405313"/>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Lambda_domain weight:</a:t>
            </a:r>
            <a:endParaRPr lang="en-US" sz="1750" dirty="0"/>
          </a:p>
        </p:txBody>
      </p:sp>
      <p:sp>
        <p:nvSpPr>
          <p:cNvPr id="24" name="Text 22"/>
          <p:cNvSpPr/>
          <p:nvPr/>
        </p:nvSpPr>
        <p:spPr>
          <a:xfrm>
            <a:off x="11013638" y="4972288"/>
            <a:ext cx="2845594"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Test values from 0.05 to 0.5</a:t>
            </a:r>
            <a:endParaRPr lang="en-US" sz="1750" dirty="0"/>
          </a:p>
        </p:txBody>
      </p:sp>
      <p:sp>
        <p:nvSpPr>
          <p:cNvPr id="25" name="Text 23"/>
          <p:cNvSpPr/>
          <p:nvPr/>
        </p:nvSpPr>
        <p:spPr>
          <a:xfrm>
            <a:off x="11013638" y="5539264"/>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Dropout: </a:t>
            </a:r>
            <a:endParaRPr lang="en-US" sz="1750" dirty="0"/>
          </a:p>
        </p:txBody>
      </p:sp>
      <p:sp>
        <p:nvSpPr>
          <p:cNvPr id="26" name="Text 24"/>
          <p:cNvSpPr/>
          <p:nvPr/>
        </p:nvSpPr>
        <p:spPr>
          <a:xfrm>
            <a:off x="11013638" y="6106239"/>
            <a:ext cx="2845594"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0.3-0.5 recommended for DANN</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235434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282824"/>
                </a:solidFill>
                <a:latin typeface="Lato Bold" pitchFamily="34" charset="0"/>
                <a:ea typeface="Lato Bold" pitchFamily="34" charset="-122"/>
                <a:cs typeface="Lato Bold" pitchFamily="34" charset="-120"/>
              </a:rPr>
              <a:t>Future Work</a:t>
            </a:r>
            <a:endParaRPr lang="en-US" sz="4450" dirty="0"/>
          </a:p>
        </p:txBody>
      </p:sp>
      <p:sp>
        <p:nvSpPr>
          <p:cNvPr id="3" name="Text 1"/>
          <p:cNvSpPr/>
          <p:nvPr/>
        </p:nvSpPr>
        <p:spPr>
          <a:xfrm>
            <a:off x="793790" y="3607356"/>
            <a:ext cx="6244709"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LIGHTWEIGHT EDGE DEPLOYMENT</a:t>
            </a:r>
            <a:endParaRPr lang="en-US" sz="1750" dirty="0"/>
          </a:p>
        </p:txBody>
      </p:sp>
      <p:sp>
        <p:nvSpPr>
          <p:cNvPr id="4" name="Text 2"/>
          <p:cNvSpPr/>
          <p:nvPr/>
        </p:nvSpPr>
        <p:spPr>
          <a:xfrm>
            <a:off x="793790" y="4174331"/>
            <a:ext cx="6244709"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Quantization:</a:t>
            </a:r>
            <a:r>
              <a:rPr lang="en-US" sz="1750" dirty="0">
                <a:solidFill>
                  <a:srgbClr val="4A4A45"/>
                </a:solidFill>
                <a:latin typeface="Lato" pitchFamily="34" charset="0"/>
                <a:ea typeface="Lato" pitchFamily="34" charset="-122"/>
                <a:cs typeface="Lato" pitchFamily="34" charset="-120"/>
              </a:rPr>
              <a:t> INT8 model (~60MB)</a:t>
            </a:r>
            <a:endParaRPr lang="en-US" sz="1750" dirty="0"/>
          </a:p>
        </p:txBody>
      </p:sp>
      <p:sp>
        <p:nvSpPr>
          <p:cNvPr id="5" name="Text 3"/>
          <p:cNvSpPr/>
          <p:nvPr/>
        </p:nvSpPr>
        <p:spPr>
          <a:xfrm>
            <a:off x="793790" y="4741307"/>
            <a:ext cx="6244709"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Mobile</a:t>
            </a:r>
            <a:r>
              <a:rPr lang="en-US" sz="1750" dirty="0">
                <a:solidFill>
                  <a:srgbClr val="4A4A45"/>
                </a:solidFill>
                <a:latin typeface="Lato" pitchFamily="34" charset="0"/>
                <a:ea typeface="Lato" pitchFamily="34" charset="-122"/>
                <a:cs typeface="Lato" pitchFamily="34" charset="-120"/>
              </a:rPr>
              <a:t>: TensorFlow Lite / Core ML</a:t>
            </a:r>
            <a:endParaRPr lang="en-US" sz="1750" dirty="0"/>
          </a:p>
        </p:txBody>
      </p:sp>
      <p:sp>
        <p:nvSpPr>
          <p:cNvPr id="6" name="Text 4"/>
          <p:cNvSpPr/>
          <p:nvPr/>
        </p:nvSpPr>
        <p:spPr>
          <a:xfrm>
            <a:off x="793790" y="5308283"/>
            <a:ext cx="6244709"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Target:</a:t>
            </a:r>
            <a:r>
              <a:rPr lang="en-US" sz="1750" dirty="0">
                <a:solidFill>
                  <a:srgbClr val="4A4A45"/>
                </a:solidFill>
                <a:latin typeface="Lato" pitchFamily="34" charset="0"/>
                <a:ea typeface="Lato" pitchFamily="34" charset="-122"/>
                <a:cs typeface="Lato" pitchFamily="34" charset="-120"/>
              </a:rPr>
              <a:t> Run on a smartphone in real-time</a:t>
            </a:r>
            <a:endParaRPr lang="en-US" sz="1750" dirty="0"/>
          </a:p>
        </p:txBody>
      </p:sp>
      <p:sp>
        <p:nvSpPr>
          <p:cNvPr id="7" name="Text 5"/>
          <p:cNvSpPr/>
          <p:nvPr/>
        </p:nvSpPr>
        <p:spPr>
          <a:xfrm>
            <a:off x="7599521" y="3607356"/>
            <a:ext cx="6244709" cy="362903"/>
          </a:xfrm>
          <a:prstGeom prst="rect">
            <a:avLst/>
          </a:prstGeom>
          <a:noFill/>
          <a:ln/>
        </p:spPr>
        <p:txBody>
          <a:bodyPr wrap="none" lIns="0" tIns="0" rIns="0" bIns="0" rtlCol="0" anchor="t"/>
          <a:lstStyle/>
          <a:p>
            <a:pPr marL="0" indent="0" algn="l">
              <a:lnSpc>
                <a:spcPts val="2850"/>
              </a:lnSpc>
              <a:buNone/>
            </a:pPr>
            <a:r>
              <a:rPr lang="en-US" sz="1750" b="1" dirty="0">
                <a:solidFill>
                  <a:srgbClr val="4A4A45"/>
                </a:solidFill>
                <a:latin typeface="Lato" pitchFamily="34" charset="0"/>
                <a:ea typeface="Lato" pitchFamily="34" charset="-122"/>
                <a:cs typeface="Lato" pitchFamily="34" charset="-120"/>
              </a:rPr>
              <a:t>CONTINUOUS DOMAIN ADAPTATION</a:t>
            </a:r>
            <a:endParaRPr lang="en-US" sz="1750" dirty="0"/>
          </a:p>
        </p:txBody>
      </p:sp>
      <p:sp>
        <p:nvSpPr>
          <p:cNvPr id="8" name="Text 6"/>
          <p:cNvSpPr/>
          <p:nvPr/>
        </p:nvSpPr>
        <p:spPr>
          <a:xfrm>
            <a:off x="7599521" y="417433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Learn from deployment feedback</a:t>
            </a:r>
            <a:endParaRPr lang="en-US" sz="1750" dirty="0"/>
          </a:p>
        </p:txBody>
      </p:sp>
      <p:sp>
        <p:nvSpPr>
          <p:cNvPr id="9" name="Text 7"/>
          <p:cNvSpPr/>
          <p:nvPr/>
        </p:nvSpPr>
        <p:spPr>
          <a:xfrm>
            <a:off x="7599521" y="461652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Fine-tune on the new farm/market without retraining</a:t>
            </a:r>
            <a:endParaRPr lang="en-US" sz="1750" dirty="0"/>
          </a:p>
        </p:txBody>
      </p:sp>
      <p:sp>
        <p:nvSpPr>
          <p:cNvPr id="10" name="Text 8"/>
          <p:cNvSpPr/>
          <p:nvPr/>
        </p:nvSpPr>
        <p:spPr>
          <a:xfrm>
            <a:off x="7599521" y="505872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Few-shot adaptation (10-50 labeled images)</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941790"/>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282824"/>
                </a:solidFill>
                <a:latin typeface="Lato Bold" pitchFamily="34" charset="0"/>
                <a:ea typeface="Lato Bold" pitchFamily="34" charset="-122"/>
                <a:cs typeface="Lato Bold" pitchFamily="34" charset="-120"/>
              </a:rPr>
              <a:t>CONCLUSION</a:t>
            </a:r>
            <a:endParaRPr lang="en-US" sz="3550" dirty="0"/>
          </a:p>
        </p:txBody>
      </p:sp>
      <p:sp>
        <p:nvSpPr>
          <p:cNvPr id="3" name="Text 1"/>
          <p:cNvSpPr/>
          <p:nvPr/>
        </p:nvSpPr>
        <p:spPr>
          <a:xfrm>
            <a:off x="793790" y="3075742"/>
            <a:ext cx="4255413"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Baseline Paper (Zhao et al., 2022):</a:t>
            </a:r>
            <a:endParaRPr lang="en-US" sz="2200" dirty="0"/>
          </a:p>
        </p:txBody>
      </p:sp>
      <p:sp>
        <p:nvSpPr>
          <p:cNvPr id="4" name="Text 2"/>
          <p:cNvSpPr/>
          <p:nvPr/>
        </p:nvSpPr>
        <p:spPr>
          <a:xfrm>
            <a:off x="793790" y="3656886"/>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Achieves impressive 100% in-domain accuracy with ACWGAN-GP </a:t>
            </a:r>
            <a:endParaRPr lang="en-US" sz="1750" dirty="0"/>
          </a:p>
        </p:txBody>
      </p:sp>
      <p:sp>
        <p:nvSpPr>
          <p:cNvPr id="5" name="Text 3"/>
          <p:cNvSpPr/>
          <p:nvPr/>
        </p:nvSpPr>
        <p:spPr>
          <a:xfrm>
            <a:off x="793790" y="4586764"/>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Limited to a single dataset (Food Aayush), no real-world validation </a:t>
            </a:r>
            <a:endParaRPr lang="en-US" sz="1750" dirty="0"/>
          </a:p>
        </p:txBody>
      </p:sp>
      <p:sp>
        <p:nvSpPr>
          <p:cNvPr id="6" name="Text 4"/>
          <p:cNvSpPr/>
          <p:nvPr/>
        </p:nvSpPr>
        <p:spPr>
          <a:xfrm>
            <a:off x="793790" y="5516642"/>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No cross-domain evaluation, unexplained 100% claim</a:t>
            </a:r>
            <a:endParaRPr lang="en-US" sz="1750" dirty="0"/>
          </a:p>
        </p:txBody>
      </p:sp>
      <p:sp>
        <p:nvSpPr>
          <p:cNvPr id="7" name="Text 5"/>
          <p:cNvSpPr/>
          <p:nvPr/>
        </p:nvSpPr>
        <p:spPr>
          <a:xfrm>
            <a:off x="7599521" y="307574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82824"/>
                </a:solidFill>
                <a:latin typeface="Lato Bold" pitchFamily="34" charset="0"/>
                <a:ea typeface="Lato Bold" pitchFamily="34" charset="-122"/>
                <a:cs typeface="Lato Bold" pitchFamily="34" charset="-120"/>
              </a:rPr>
              <a:t>Our Research:</a:t>
            </a:r>
            <a:endParaRPr lang="en-US" sz="2200" dirty="0"/>
          </a:p>
        </p:txBody>
      </p:sp>
      <p:sp>
        <p:nvSpPr>
          <p:cNvPr id="8" name="Text 6"/>
          <p:cNvSpPr/>
          <p:nvPr/>
        </p:nvSpPr>
        <p:spPr>
          <a:xfrm>
            <a:off x="7599521" y="3656886"/>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Proposes DANN-ViT + Ordinal Freshness Head (Domain-Robust Architecture) </a:t>
            </a:r>
            <a:endParaRPr lang="en-US" sz="1750" dirty="0"/>
          </a:p>
        </p:txBody>
      </p:sp>
      <p:sp>
        <p:nvSpPr>
          <p:cNvPr id="9" name="Text 7"/>
          <p:cNvSpPr/>
          <p:nvPr/>
        </p:nvSpPr>
        <p:spPr>
          <a:xfrm>
            <a:off x="7599521" y="4586764"/>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Eliminates GAN training complexity (3 hours vs 60 hours) </a:t>
            </a:r>
            <a:endParaRPr lang="en-US" sz="1750" dirty="0"/>
          </a:p>
        </p:txBody>
      </p:sp>
      <p:sp>
        <p:nvSpPr>
          <p:cNvPr id="10" name="Text 8"/>
          <p:cNvSpPr/>
          <p:nvPr/>
        </p:nvSpPr>
        <p:spPr>
          <a:xfrm>
            <a:off x="7599521" y="5153739"/>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Provides practical multi-level freshness (5-level vs binary) </a:t>
            </a:r>
            <a:endParaRPr lang="en-US" sz="1750" dirty="0"/>
          </a:p>
        </p:txBody>
      </p:sp>
      <p:sp>
        <p:nvSpPr>
          <p:cNvPr id="11" name="Text 9"/>
          <p:cNvSpPr/>
          <p:nvPr/>
        </p:nvSpPr>
        <p:spPr>
          <a:xfrm>
            <a:off x="7599521" y="5720715"/>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 Enables edge device deployment (Raspberry Pi, mobile)</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2699980"/>
            <a:ext cx="13042821" cy="2126456"/>
          </a:xfrm>
          <a:prstGeom prst="rect">
            <a:avLst/>
          </a:prstGeom>
          <a:noFill/>
          <a:ln/>
        </p:spPr>
        <p:txBody>
          <a:bodyPr wrap="none" lIns="0" tIns="0" rIns="0" bIns="0" rtlCol="0" anchor="t"/>
          <a:lstStyle/>
          <a:p>
            <a:pPr marL="0" indent="0" algn="l">
              <a:lnSpc>
                <a:spcPts val="16700"/>
              </a:lnSpc>
              <a:buNone/>
            </a:pPr>
            <a:r>
              <a:rPr lang="en-US" sz="13350" b="1" dirty="0">
                <a:solidFill>
                  <a:srgbClr val="282824"/>
                </a:solidFill>
                <a:latin typeface="Lato Bold" pitchFamily="34" charset="0"/>
                <a:ea typeface="Lato Bold" pitchFamily="34" charset="-122"/>
                <a:cs typeface="Lato Bold" pitchFamily="34" charset="-120"/>
              </a:rPr>
              <a:t>Thank You</a:t>
            </a:r>
            <a:endParaRPr lang="en-US" sz="13350" dirty="0"/>
          </a:p>
        </p:txBody>
      </p:sp>
      <p:sp>
        <p:nvSpPr>
          <p:cNvPr id="3" name="Text 1"/>
          <p:cNvSpPr/>
          <p:nvPr/>
        </p:nvSpPr>
        <p:spPr>
          <a:xfrm>
            <a:off x="793790" y="516659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2352</Words>
  <Application>Microsoft Office PowerPoint</Application>
  <PresentationFormat>Custom</PresentationFormat>
  <Paragraphs>282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Lato</vt:lpstr>
      <vt:lpstr>Arial</vt:lpstr>
      <vt:lpstr>Lato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Abdullah Al Marjuc Talha</cp:lastModifiedBy>
  <cp:revision>2</cp:revision>
  <dcterms:created xsi:type="dcterms:W3CDTF">2026-01-06T19:23:54Z</dcterms:created>
  <dcterms:modified xsi:type="dcterms:W3CDTF">2026-01-06T19:36:42Z</dcterms:modified>
</cp:coreProperties>
</file>